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7" r:id="rId3"/>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57" r:id="rId21"/>
    <p:sldId id="264" r:id="rId22"/>
    <p:sldId id="258" r:id="rId23"/>
    <p:sldId id="259" r:id="rId24"/>
    <p:sldId id="260" r:id="rId25"/>
    <p:sldId id="261" r:id="rId26"/>
    <p:sldId id="262" r:id="rId27"/>
    <p:sldId id="265" r:id="rId28"/>
    <p:sldId id="266" r:id="rId29"/>
    <p:sldId id="285" r:id="rId30"/>
    <p:sldId id="286" r:id="rId31"/>
    <p:sldId id="287" r:id="rId32"/>
    <p:sldId id="26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3" d="100"/>
          <a:sy n="83" d="100"/>
        </p:scale>
        <p:origin x="68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40BA56-EF20-40C6-AFCD-926713F016F5}"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1502675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40BA56-EF20-40C6-AFCD-926713F016F5}"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3595530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40BA56-EF20-40C6-AFCD-926713F016F5}"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205538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40BA56-EF20-40C6-AFCD-926713F016F5}"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2574401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40BA56-EF20-40C6-AFCD-926713F016F5}" type="datetimeFigureOut">
              <a:rPr lang="en-IN" smtClean="0"/>
              <a:t>08-04-2026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3138378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40BA56-EF20-40C6-AFCD-926713F016F5}" type="datetimeFigureOut">
              <a:rPr lang="en-IN" smtClean="0"/>
              <a:t>08-04-2026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3487375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40BA56-EF20-40C6-AFCD-926713F016F5}" type="datetimeFigureOut">
              <a:rPr lang="en-IN" smtClean="0"/>
              <a:t>08-04-2026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30863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40BA56-EF20-40C6-AFCD-926713F016F5}"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4072404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40BA56-EF20-40C6-AFCD-926713F016F5}"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2323572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40BA56-EF20-40C6-AFCD-926713F016F5}"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4105189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40BA56-EF20-40C6-AFCD-926713F016F5}"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4189431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40BA56-EF20-40C6-AFCD-926713F016F5}"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4DDF5-A183-4B7B-84CC-F961595C4058}"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86788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40BA56-EF20-40C6-AFCD-926713F016F5}"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1449970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A40BA56-EF20-40C6-AFCD-926713F016F5}" type="datetimeFigureOut">
              <a:rPr lang="en-IN" smtClean="0"/>
              <a:t>08-04-2026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2398003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A40BA56-EF20-40C6-AFCD-926713F016F5}" type="datetimeFigureOut">
              <a:rPr lang="en-IN" smtClean="0"/>
              <a:t>08-04-2026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727384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40BA56-EF20-40C6-AFCD-926713F016F5}"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3748665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40BA56-EF20-40C6-AFCD-926713F016F5}"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4DDF5-A183-4B7B-84CC-F961595C4058}" type="slidenum">
              <a:rPr lang="en-IN" smtClean="0"/>
              <a:t>‹#›</a:t>
            </a:fld>
            <a:endParaRPr lang="en-IN"/>
          </a:p>
        </p:txBody>
      </p:sp>
    </p:spTree>
    <p:extLst>
      <p:ext uri="{BB962C8B-B14F-4D97-AF65-F5344CB8AC3E}">
        <p14:creationId xmlns:p14="http://schemas.microsoft.com/office/powerpoint/2010/main" val="3286139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A40BA56-EF20-40C6-AFCD-926713F016F5}" type="datetimeFigureOut">
              <a:rPr lang="en-IN" smtClean="0"/>
              <a:t>08-04-2026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C24DDF5-A183-4B7B-84CC-F961595C4058}" type="slidenum">
              <a:rPr lang="en-IN" smtClean="0"/>
              <a:t>‹#›</a:t>
            </a:fld>
            <a:endParaRPr lang="en-IN"/>
          </a:p>
        </p:txBody>
      </p:sp>
    </p:spTree>
    <p:extLst>
      <p:ext uri="{BB962C8B-B14F-4D97-AF65-F5344CB8AC3E}">
        <p14:creationId xmlns:p14="http://schemas.microsoft.com/office/powerpoint/2010/main" val="1782830182"/>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FBAB5-B074-2958-6F6E-226765CEBEA2}"/>
              </a:ext>
            </a:extLst>
          </p:cNvPr>
          <p:cNvSpPr>
            <a:spLocks noGrp="1"/>
          </p:cNvSpPr>
          <p:nvPr>
            <p:ph type="ctrTitle"/>
          </p:nvPr>
        </p:nvSpPr>
        <p:spPr>
          <a:xfrm>
            <a:off x="1038525" y="385405"/>
            <a:ext cx="9092396" cy="2823343"/>
          </a:xfrm>
        </p:spPr>
        <p:txBody>
          <a:bodyPr>
            <a:normAutofit/>
          </a:bodyPr>
          <a:lstStyle/>
          <a:p>
            <a:r>
              <a:rPr lang="en-US" dirty="0"/>
              <a:t>Infosys </a:t>
            </a:r>
            <a:br>
              <a:rPr lang="en-US" dirty="0"/>
            </a:br>
            <a:r>
              <a:rPr lang="en-US" dirty="0"/>
              <a:t>Crowd Count People Counting Using Video Analytics </a:t>
            </a:r>
            <a:endParaRPr lang="en-IN" dirty="0"/>
          </a:p>
        </p:txBody>
      </p:sp>
      <p:sp>
        <p:nvSpPr>
          <p:cNvPr id="3" name="Subtitle 2">
            <a:extLst>
              <a:ext uri="{FF2B5EF4-FFF2-40B4-BE49-F238E27FC236}">
                <a16:creationId xmlns:a16="http://schemas.microsoft.com/office/drawing/2014/main" id="{9FF2D49B-4B61-1BDD-E002-DD6D30D04266}"/>
              </a:ext>
            </a:extLst>
          </p:cNvPr>
          <p:cNvSpPr>
            <a:spLocks noGrp="1"/>
          </p:cNvSpPr>
          <p:nvPr>
            <p:ph type="subTitle" idx="1"/>
          </p:nvPr>
        </p:nvSpPr>
        <p:spPr>
          <a:xfrm>
            <a:off x="2450675" y="3061264"/>
            <a:ext cx="9011651" cy="1612336"/>
          </a:xfrm>
        </p:spPr>
        <p:txBody>
          <a:bodyPr>
            <a:noAutofit/>
          </a:bodyPr>
          <a:lstStyle/>
          <a:p>
            <a:pPr algn="r"/>
            <a:r>
              <a:rPr lang="en-US" sz="2000" dirty="0"/>
              <a:t>Presented By:</a:t>
            </a:r>
          </a:p>
          <a:p>
            <a:pPr algn="r"/>
            <a:r>
              <a:rPr lang="en-US" sz="2000" dirty="0"/>
              <a:t>Nishanth H S </a:t>
            </a:r>
          </a:p>
          <a:p>
            <a:pPr algn="r"/>
            <a:r>
              <a:rPr lang="en-US" sz="2000" dirty="0"/>
              <a:t>Priya Pushpam S</a:t>
            </a:r>
          </a:p>
          <a:p>
            <a:pPr algn="r"/>
            <a:r>
              <a:rPr lang="en-US" sz="2000" dirty="0" err="1"/>
              <a:t>Ammana</a:t>
            </a:r>
            <a:r>
              <a:rPr lang="en-US" sz="2000" dirty="0"/>
              <a:t> Pyare</a:t>
            </a:r>
          </a:p>
          <a:p>
            <a:pPr algn="r"/>
            <a:r>
              <a:rPr lang="en-US" sz="2000" dirty="0"/>
              <a:t>Sanketh Singh</a:t>
            </a:r>
          </a:p>
          <a:p>
            <a:pPr algn="r"/>
            <a:r>
              <a:rPr lang="en-US" sz="2000" dirty="0" err="1"/>
              <a:t>Cherkuri</a:t>
            </a:r>
            <a:r>
              <a:rPr lang="en-US" sz="2000" dirty="0"/>
              <a:t> </a:t>
            </a:r>
            <a:r>
              <a:rPr lang="en-US" sz="2000" dirty="0" err="1"/>
              <a:t>Likitha</a:t>
            </a:r>
            <a:r>
              <a:rPr lang="en-US" sz="2000" dirty="0"/>
              <a:t> </a:t>
            </a:r>
            <a:r>
              <a:rPr lang="en-US" sz="2000" dirty="0" smtClean="0"/>
              <a:t>Rani</a:t>
            </a:r>
          </a:p>
          <a:p>
            <a:pPr algn="r"/>
            <a:r>
              <a:rPr lang="en-US" sz="2000" dirty="0" smtClean="0"/>
              <a:t>Sulfa </a:t>
            </a:r>
            <a:r>
              <a:rPr lang="en-US" sz="2000" dirty="0" err="1" smtClean="0"/>
              <a:t>Saji</a:t>
            </a:r>
            <a:endParaRPr lang="en-US" sz="2000" dirty="0" smtClean="0"/>
          </a:p>
          <a:p>
            <a:pPr algn="r"/>
            <a:endParaRPr lang="en-US" dirty="0"/>
          </a:p>
          <a:p>
            <a:pPr algn="r"/>
            <a:endParaRPr lang="en-US" dirty="0"/>
          </a:p>
          <a:p>
            <a:pPr algn="r"/>
            <a:r>
              <a:rPr lang="en-US" dirty="0"/>
              <a:t> </a:t>
            </a:r>
          </a:p>
          <a:p>
            <a:pPr algn="r"/>
            <a:r>
              <a:rPr lang="en-US" dirty="0"/>
              <a:t> </a:t>
            </a:r>
            <a:endParaRPr lang="en-IN" dirty="0"/>
          </a:p>
        </p:txBody>
      </p:sp>
    </p:spTree>
    <p:extLst>
      <p:ext uri="{BB962C8B-B14F-4D97-AF65-F5344CB8AC3E}">
        <p14:creationId xmlns:p14="http://schemas.microsoft.com/office/powerpoint/2010/main" val="27771428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5CBD-BA2A-D331-E78E-79A91FB544E2}"/>
              </a:ext>
            </a:extLst>
          </p:cNvPr>
          <p:cNvSpPr>
            <a:spLocks noGrp="1"/>
          </p:cNvSpPr>
          <p:nvPr>
            <p:ph type="title"/>
          </p:nvPr>
        </p:nvSpPr>
        <p:spPr/>
        <p:txBody>
          <a:bodyPr/>
          <a:lstStyle/>
          <a:p>
            <a:r>
              <a:rPr lang="en-IN" dirty="0"/>
              <a:t>MILESTONE1</a:t>
            </a:r>
          </a:p>
        </p:txBody>
      </p:sp>
      <p:sp>
        <p:nvSpPr>
          <p:cNvPr id="3" name="Content Placeholder 2">
            <a:extLst>
              <a:ext uri="{FF2B5EF4-FFF2-40B4-BE49-F238E27FC236}">
                <a16:creationId xmlns:a16="http://schemas.microsoft.com/office/drawing/2014/main" id="{A9E080B1-A3D6-0811-3495-B834F0F1CEBE}"/>
              </a:ext>
            </a:extLst>
          </p:cNvPr>
          <p:cNvSpPr>
            <a:spLocks noGrp="1"/>
          </p:cNvSpPr>
          <p:nvPr>
            <p:ph idx="1"/>
          </p:nvPr>
        </p:nvSpPr>
        <p:spPr/>
        <p:txBody>
          <a:bodyPr>
            <a:normAutofit/>
          </a:bodyPr>
          <a:lstStyle/>
          <a:p>
            <a:pPr marL="0" indent="0">
              <a:buNone/>
            </a:pPr>
            <a:endParaRPr lang="en-US" sz="3200" dirty="0"/>
          </a:p>
          <a:p>
            <a:pPr marL="0" indent="0">
              <a:buNone/>
            </a:pPr>
            <a:r>
              <a:rPr lang="en-US" sz="3200" dirty="0"/>
              <a:t>		Zone Detection System using OpenCV</a:t>
            </a:r>
            <a:endParaRPr lang="en-IN" sz="3200" dirty="0"/>
          </a:p>
        </p:txBody>
      </p:sp>
    </p:spTree>
    <p:extLst>
      <p:ext uri="{BB962C8B-B14F-4D97-AF65-F5344CB8AC3E}">
        <p14:creationId xmlns:p14="http://schemas.microsoft.com/office/powerpoint/2010/main" val="37153813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E258E-AFD6-2854-019D-BDCF571AE094}"/>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770B402-C20E-354E-D776-723BA9B806A1}"/>
              </a:ext>
            </a:extLst>
          </p:cNvPr>
          <p:cNvSpPr>
            <a:spLocks noGrp="1"/>
          </p:cNvSpPr>
          <p:nvPr>
            <p:ph idx="1"/>
          </p:nvPr>
        </p:nvSpPr>
        <p:spPr/>
        <p:txBody>
          <a:bodyPr>
            <a:normAutofit lnSpcReduction="10000"/>
          </a:bodyPr>
          <a:lstStyle/>
          <a:p>
            <a:pPr marL="0" indent="0">
              <a:buNone/>
            </a:pPr>
            <a:r>
              <a:rPr lang="en-US" dirty="0"/>
              <a:t>	Monitoring crowded environments such as public spaces, events, or restricted areas is a challenging task when done manually, as it often leads to inaccuracies and inefficiencies. One of the major issues in crowd analysis systems is the lack of clearly defined regions of interest, which makes it difficult to track, analyze, and control crowd movement effectively. Without predefined zones, systems cannot accurately identify where people are located or detect overcrowding in specific areas. Therefore, there is a need for an interactive and flexible solution that allows users to define custom monitoring zones dynamically on live video feeds. This enables structured analysis, improves accuracy, and forms a foundation for advanced features like automated crowd detection, counting, and alert generation in future developments.</a:t>
            </a:r>
            <a:endParaRPr lang="en-IN" dirty="0"/>
          </a:p>
        </p:txBody>
      </p:sp>
    </p:spTree>
    <p:extLst>
      <p:ext uri="{BB962C8B-B14F-4D97-AF65-F5344CB8AC3E}">
        <p14:creationId xmlns:p14="http://schemas.microsoft.com/office/powerpoint/2010/main" val="3853305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177DF-2E0A-3D64-9453-935F7EE7FB6E}"/>
              </a:ext>
            </a:extLst>
          </p:cNvPr>
          <p:cNvSpPr>
            <a:spLocks noGrp="1"/>
          </p:cNvSpPr>
          <p:nvPr>
            <p:ph type="title"/>
          </p:nvPr>
        </p:nvSpPr>
        <p:spPr/>
        <p:txBody>
          <a:bodyPr/>
          <a:lstStyle/>
          <a:p>
            <a:r>
              <a:rPr lang="en-IN" dirty="0"/>
              <a:t>System Workflow</a:t>
            </a:r>
          </a:p>
        </p:txBody>
      </p:sp>
      <p:sp>
        <p:nvSpPr>
          <p:cNvPr id="4" name="Rectangle 1">
            <a:extLst>
              <a:ext uri="{FF2B5EF4-FFF2-40B4-BE49-F238E27FC236}">
                <a16:creationId xmlns:a16="http://schemas.microsoft.com/office/drawing/2014/main" id="{4FA97C10-057F-6A2A-29C5-C38DE42B3B33}"/>
              </a:ext>
            </a:extLst>
          </p:cNvPr>
          <p:cNvSpPr>
            <a:spLocks noGrp="1" noChangeArrowheads="1"/>
          </p:cNvSpPr>
          <p:nvPr>
            <p:ph idx="1"/>
          </p:nvPr>
        </p:nvSpPr>
        <p:spPr bwMode="auto">
          <a:xfrm>
            <a:off x="913795" y="1674164"/>
            <a:ext cx="5890652" cy="4538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Start webcam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Load existing zones (if any)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Draw zones using mouse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Display zones with labels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Save zones to file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Modify/delete zones dynamically </a:t>
            </a:r>
          </a:p>
        </p:txBody>
      </p:sp>
    </p:spTree>
    <p:extLst>
      <p:ext uri="{BB962C8B-B14F-4D97-AF65-F5344CB8AC3E}">
        <p14:creationId xmlns:p14="http://schemas.microsoft.com/office/powerpoint/2010/main" val="111850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7E57-AAB0-78D7-8903-4B5847BCCE59}"/>
              </a:ext>
            </a:extLst>
          </p:cNvPr>
          <p:cNvSpPr>
            <a:spLocks noGrp="1"/>
          </p:cNvSpPr>
          <p:nvPr>
            <p:ph type="title"/>
          </p:nvPr>
        </p:nvSpPr>
        <p:spPr/>
        <p:txBody>
          <a:bodyPr/>
          <a:lstStyle/>
          <a:p>
            <a:r>
              <a:rPr lang="en-IN" dirty="0"/>
              <a:t>Technologies Used</a:t>
            </a:r>
          </a:p>
        </p:txBody>
      </p:sp>
      <p:sp>
        <p:nvSpPr>
          <p:cNvPr id="4" name="Rectangle 1">
            <a:extLst>
              <a:ext uri="{FF2B5EF4-FFF2-40B4-BE49-F238E27FC236}">
                <a16:creationId xmlns:a16="http://schemas.microsoft.com/office/drawing/2014/main" id="{860AE10D-E3FC-A6FC-18B9-9EB21919E647}"/>
              </a:ext>
            </a:extLst>
          </p:cNvPr>
          <p:cNvSpPr>
            <a:spLocks noGrp="1" noChangeArrowheads="1"/>
          </p:cNvSpPr>
          <p:nvPr>
            <p:ph idx="1"/>
          </p:nvPr>
        </p:nvSpPr>
        <p:spPr bwMode="auto">
          <a:xfrm>
            <a:off x="1729872" y="2250274"/>
            <a:ext cx="6999993" cy="2600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Python</a:t>
            </a: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OpenCV (cv2)</a:t>
            </a:r>
            <a:r>
              <a:rPr kumimoji="0" lang="en-US" altLang="en-US" sz="2800" b="0" i="0" u="none" strike="noStrike" cap="none" normalizeH="0" baseline="0" dirty="0">
                <a:ln>
                  <a:noFill/>
                </a:ln>
                <a:solidFill>
                  <a:schemeClr val="tx1"/>
                </a:solidFill>
                <a:effectLst/>
              </a:rPr>
              <a:t> → Video processing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JSON</a:t>
            </a:r>
            <a:r>
              <a:rPr kumimoji="0" lang="en-US" altLang="en-US" sz="2800" b="0" i="0" u="none" strike="noStrike" cap="none" normalizeH="0" baseline="0" dirty="0">
                <a:ln>
                  <a:noFill/>
                </a:ln>
                <a:solidFill>
                  <a:schemeClr val="tx1"/>
                </a:solidFill>
                <a:effectLst/>
              </a:rPr>
              <a:t> → Data storage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Random module</a:t>
            </a:r>
            <a:r>
              <a:rPr kumimoji="0" lang="en-US" altLang="en-US" sz="2800" b="0" i="0" u="none" strike="noStrike" cap="none" normalizeH="0" baseline="0" dirty="0">
                <a:ln>
                  <a:noFill/>
                </a:ln>
                <a:solidFill>
                  <a:schemeClr val="tx1"/>
                </a:solidFill>
                <a:effectLst/>
              </a:rPr>
              <a:t> → Unique zone colors </a:t>
            </a:r>
          </a:p>
        </p:txBody>
      </p:sp>
    </p:spTree>
    <p:extLst>
      <p:ext uri="{BB962C8B-B14F-4D97-AF65-F5344CB8AC3E}">
        <p14:creationId xmlns:p14="http://schemas.microsoft.com/office/powerpoint/2010/main" val="4117277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BF8B2-BE27-846C-8EE5-9E8D18624652}"/>
              </a:ext>
            </a:extLst>
          </p:cNvPr>
          <p:cNvSpPr>
            <a:spLocks noGrp="1"/>
          </p:cNvSpPr>
          <p:nvPr>
            <p:ph type="title"/>
          </p:nvPr>
        </p:nvSpPr>
        <p:spPr/>
        <p:txBody>
          <a:bodyPr/>
          <a:lstStyle/>
          <a:p>
            <a:r>
              <a:rPr lang="en-IN" dirty="0"/>
              <a:t>Output</a:t>
            </a:r>
          </a:p>
        </p:txBody>
      </p:sp>
      <p:pic>
        <p:nvPicPr>
          <p:cNvPr id="5" name="Picture 4">
            <a:extLst>
              <a:ext uri="{FF2B5EF4-FFF2-40B4-BE49-F238E27FC236}">
                <a16:creationId xmlns:a16="http://schemas.microsoft.com/office/drawing/2014/main" id="{A6802790-A0BF-A548-F6C6-C009D9B66A10}"/>
              </a:ext>
            </a:extLst>
          </p:cNvPr>
          <p:cNvPicPr>
            <a:picLocks noChangeAspect="1"/>
          </p:cNvPicPr>
          <p:nvPr/>
        </p:nvPicPr>
        <p:blipFill>
          <a:blip r:embed="rId2"/>
          <a:stretch>
            <a:fillRect/>
          </a:stretch>
        </p:blipFill>
        <p:spPr>
          <a:xfrm>
            <a:off x="3716702" y="1779529"/>
            <a:ext cx="5319143" cy="4257478"/>
          </a:xfrm>
          <a:prstGeom prst="rect">
            <a:avLst/>
          </a:prstGeom>
        </p:spPr>
      </p:pic>
    </p:spTree>
    <p:extLst>
      <p:ext uri="{BB962C8B-B14F-4D97-AF65-F5344CB8AC3E}">
        <p14:creationId xmlns:p14="http://schemas.microsoft.com/office/powerpoint/2010/main" val="13687293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7DB03E-A0F4-93C5-0818-B098E69D7EA4}"/>
              </a:ext>
            </a:extLst>
          </p:cNvPr>
          <p:cNvPicPr>
            <a:picLocks noChangeAspect="1"/>
          </p:cNvPicPr>
          <p:nvPr/>
        </p:nvPicPr>
        <p:blipFill>
          <a:blip r:embed="rId2"/>
          <a:stretch>
            <a:fillRect/>
          </a:stretch>
        </p:blipFill>
        <p:spPr>
          <a:xfrm>
            <a:off x="1957981" y="1651633"/>
            <a:ext cx="7628471" cy="3884479"/>
          </a:xfrm>
          <a:prstGeom prst="rect">
            <a:avLst/>
          </a:prstGeom>
        </p:spPr>
      </p:pic>
      <p:sp>
        <p:nvSpPr>
          <p:cNvPr id="4" name="TextBox 3">
            <a:extLst>
              <a:ext uri="{FF2B5EF4-FFF2-40B4-BE49-F238E27FC236}">
                <a16:creationId xmlns:a16="http://schemas.microsoft.com/office/drawing/2014/main" id="{6231C310-2D9A-58CC-8009-38CA87811D7A}"/>
              </a:ext>
            </a:extLst>
          </p:cNvPr>
          <p:cNvSpPr txBox="1"/>
          <p:nvPr/>
        </p:nvSpPr>
        <p:spPr>
          <a:xfrm>
            <a:off x="639097" y="521110"/>
            <a:ext cx="4876800" cy="523220"/>
          </a:xfrm>
          <a:prstGeom prst="rect">
            <a:avLst/>
          </a:prstGeom>
          <a:noFill/>
        </p:spPr>
        <p:txBody>
          <a:bodyPr wrap="square" rtlCol="0">
            <a:spAutoFit/>
          </a:bodyPr>
          <a:lstStyle/>
          <a:p>
            <a:r>
              <a:rPr lang="en-IN" sz="2800" dirty="0" err="1"/>
              <a:t>zones.json</a:t>
            </a:r>
            <a:r>
              <a:rPr lang="en-IN" sz="2800" dirty="0"/>
              <a:t> file:</a:t>
            </a:r>
          </a:p>
        </p:txBody>
      </p:sp>
    </p:spTree>
    <p:extLst>
      <p:ext uri="{BB962C8B-B14F-4D97-AF65-F5344CB8AC3E}">
        <p14:creationId xmlns:p14="http://schemas.microsoft.com/office/powerpoint/2010/main" val="6364322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BFEB7-06A1-5111-36CE-303AD356099F}"/>
              </a:ext>
            </a:extLst>
          </p:cNvPr>
          <p:cNvSpPr>
            <a:spLocks noGrp="1"/>
          </p:cNvSpPr>
          <p:nvPr>
            <p:ph type="title"/>
          </p:nvPr>
        </p:nvSpPr>
        <p:spPr/>
        <p:txBody>
          <a:bodyPr/>
          <a:lstStyle/>
          <a:p>
            <a:r>
              <a:rPr lang="en-IN" dirty="0"/>
              <a:t>Milestone-2</a:t>
            </a:r>
          </a:p>
        </p:txBody>
      </p:sp>
      <p:sp>
        <p:nvSpPr>
          <p:cNvPr id="3" name="Content Placeholder 2">
            <a:extLst>
              <a:ext uri="{FF2B5EF4-FFF2-40B4-BE49-F238E27FC236}">
                <a16:creationId xmlns:a16="http://schemas.microsoft.com/office/drawing/2014/main" id="{D2404186-27DE-82B5-AADA-005BDA2A704A}"/>
              </a:ext>
            </a:extLst>
          </p:cNvPr>
          <p:cNvSpPr>
            <a:spLocks noGrp="1"/>
          </p:cNvSpPr>
          <p:nvPr>
            <p:ph idx="1"/>
          </p:nvPr>
        </p:nvSpPr>
        <p:spPr>
          <a:xfrm>
            <a:off x="1208763" y="2263212"/>
            <a:ext cx="10353762" cy="3695136"/>
          </a:xfrm>
        </p:spPr>
        <p:txBody>
          <a:bodyPr>
            <a:normAutofit/>
          </a:bodyPr>
          <a:lstStyle/>
          <a:p>
            <a:pPr marL="0" indent="0">
              <a:buNone/>
            </a:pPr>
            <a:r>
              <a:rPr lang="en-US" sz="3200" dirty="0"/>
              <a:t>Advanced Zone Management &amp; Monitoring Tool</a:t>
            </a:r>
            <a:endParaRPr lang="en-IN" sz="3200" dirty="0"/>
          </a:p>
        </p:txBody>
      </p:sp>
    </p:spTree>
    <p:extLst>
      <p:ext uri="{BB962C8B-B14F-4D97-AF65-F5344CB8AC3E}">
        <p14:creationId xmlns:p14="http://schemas.microsoft.com/office/powerpoint/2010/main" val="6598086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D5774-3A9F-EF74-33B0-347831490D8C}"/>
              </a:ext>
            </a:extLst>
          </p:cNvPr>
          <p:cNvSpPr>
            <a:spLocks noGrp="1"/>
          </p:cNvSpPr>
          <p:nvPr>
            <p:ph type="title"/>
          </p:nvPr>
        </p:nvSpPr>
        <p:spPr/>
        <p:txBody>
          <a:bodyPr/>
          <a:lstStyle/>
          <a:p>
            <a:r>
              <a:rPr lang="en-IN" dirty="0"/>
              <a:t>System Workflow</a:t>
            </a:r>
          </a:p>
        </p:txBody>
      </p:sp>
      <p:sp>
        <p:nvSpPr>
          <p:cNvPr id="4" name="Rectangle 1">
            <a:extLst>
              <a:ext uri="{FF2B5EF4-FFF2-40B4-BE49-F238E27FC236}">
                <a16:creationId xmlns:a16="http://schemas.microsoft.com/office/drawing/2014/main" id="{C4805A3D-0DF4-B502-9FB4-7F40D4685BAD}"/>
              </a:ext>
            </a:extLst>
          </p:cNvPr>
          <p:cNvSpPr>
            <a:spLocks noGrp="1" noChangeArrowheads="1"/>
          </p:cNvSpPr>
          <p:nvPr>
            <p:ph idx="1"/>
          </p:nvPr>
        </p:nvSpPr>
        <p:spPr bwMode="auto">
          <a:xfrm>
            <a:off x="1503731" y="1159532"/>
            <a:ext cx="6810775" cy="4538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Load saved zones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Start webcam feed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Draw zones using mouse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Display zone details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Log zone creation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Manage zones using keyboard controls </a:t>
            </a:r>
          </a:p>
        </p:txBody>
      </p:sp>
    </p:spTree>
    <p:extLst>
      <p:ext uri="{BB962C8B-B14F-4D97-AF65-F5344CB8AC3E}">
        <p14:creationId xmlns:p14="http://schemas.microsoft.com/office/powerpoint/2010/main" val="36575453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AEB42-F6C9-3D17-68D7-0C8A11E47BEE}"/>
              </a:ext>
            </a:extLst>
          </p:cNvPr>
          <p:cNvSpPr>
            <a:spLocks noGrp="1"/>
          </p:cNvSpPr>
          <p:nvPr>
            <p:ph type="title"/>
          </p:nvPr>
        </p:nvSpPr>
        <p:spPr/>
        <p:txBody>
          <a:bodyPr/>
          <a:lstStyle/>
          <a:p>
            <a:r>
              <a:rPr lang="en-IN" dirty="0"/>
              <a:t>Technologies Used</a:t>
            </a:r>
          </a:p>
        </p:txBody>
      </p:sp>
      <p:sp>
        <p:nvSpPr>
          <p:cNvPr id="4" name="Rectangle 1">
            <a:extLst>
              <a:ext uri="{FF2B5EF4-FFF2-40B4-BE49-F238E27FC236}">
                <a16:creationId xmlns:a16="http://schemas.microsoft.com/office/drawing/2014/main" id="{35CDD0F5-4A32-D6CA-9992-180648C2E468}"/>
              </a:ext>
            </a:extLst>
          </p:cNvPr>
          <p:cNvSpPr>
            <a:spLocks noGrp="1" noChangeArrowheads="1"/>
          </p:cNvSpPr>
          <p:nvPr>
            <p:ph idx="1"/>
          </p:nvPr>
        </p:nvSpPr>
        <p:spPr bwMode="auto">
          <a:xfrm>
            <a:off x="2477124" y="2175463"/>
            <a:ext cx="6442533" cy="3246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Python</a:t>
            </a: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OpenCV (cv2)</a:t>
            </a:r>
            <a:r>
              <a:rPr kumimoji="0" lang="en-US" altLang="en-US" sz="2800" b="0" i="0" u="none" strike="noStrike" cap="none" normalizeH="0" baseline="0" dirty="0">
                <a:ln>
                  <a:noFill/>
                </a:ln>
                <a:solidFill>
                  <a:schemeClr val="tx1"/>
                </a:solidFill>
                <a:effectLst/>
              </a:rPr>
              <a:t> → Video processing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JSON</a:t>
            </a:r>
            <a:r>
              <a:rPr kumimoji="0" lang="en-US" altLang="en-US" sz="2800" b="0" i="0" u="none" strike="noStrike" cap="none" normalizeH="0" baseline="0" dirty="0">
                <a:ln>
                  <a:noFill/>
                </a:ln>
                <a:solidFill>
                  <a:schemeClr val="tx1"/>
                </a:solidFill>
                <a:effectLst/>
              </a:rPr>
              <a:t> → Zone storage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Datetime</a:t>
            </a:r>
            <a:r>
              <a:rPr kumimoji="0" lang="en-US" altLang="en-US" sz="2800" b="0" i="0" u="none" strike="noStrike" cap="none" normalizeH="0" baseline="0" dirty="0">
                <a:ln>
                  <a:noFill/>
                </a:ln>
                <a:solidFill>
                  <a:schemeClr val="tx1"/>
                </a:solidFill>
                <a:effectLst/>
              </a:rPr>
              <a:t> → Timestamp logging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Time module</a:t>
            </a:r>
            <a:r>
              <a:rPr kumimoji="0" lang="en-US" altLang="en-US" sz="2800" b="0" i="0" u="none" strike="noStrike" cap="none" normalizeH="0" baseline="0" dirty="0">
                <a:ln>
                  <a:noFill/>
                </a:ln>
                <a:solidFill>
                  <a:schemeClr val="tx1"/>
                </a:solidFill>
                <a:effectLst/>
              </a:rPr>
              <a:t> → Screenshot naming </a:t>
            </a:r>
          </a:p>
        </p:txBody>
      </p:sp>
    </p:spTree>
    <p:extLst>
      <p:ext uri="{BB962C8B-B14F-4D97-AF65-F5344CB8AC3E}">
        <p14:creationId xmlns:p14="http://schemas.microsoft.com/office/powerpoint/2010/main" val="5791076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207DE-03C0-0F8B-CD19-5D4596F80FDB}"/>
              </a:ext>
            </a:extLst>
          </p:cNvPr>
          <p:cNvSpPr>
            <a:spLocks noGrp="1"/>
          </p:cNvSpPr>
          <p:nvPr>
            <p:ph type="title"/>
          </p:nvPr>
        </p:nvSpPr>
        <p:spPr/>
        <p:txBody>
          <a:bodyPr/>
          <a:lstStyle/>
          <a:p>
            <a:r>
              <a:rPr lang="en-IN" dirty="0"/>
              <a:t>User Controls</a:t>
            </a:r>
          </a:p>
        </p:txBody>
      </p:sp>
      <p:graphicFrame>
        <p:nvGraphicFramePr>
          <p:cNvPr id="4" name="Content Placeholder 3">
            <a:extLst>
              <a:ext uri="{FF2B5EF4-FFF2-40B4-BE49-F238E27FC236}">
                <a16:creationId xmlns:a16="http://schemas.microsoft.com/office/drawing/2014/main" id="{8D421F87-F00C-E017-2AC5-AE8E7F6BAA9B}"/>
              </a:ext>
            </a:extLst>
          </p:cNvPr>
          <p:cNvGraphicFramePr>
            <a:graphicFrameLocks noGrp="1"/>
          </p:cNvGraphicFramePr>
          <p:nvPr>
            <p:ph idx="1"/>
            <p:extLst>
              <p:ext uri="{D42A27DB-BD31-4B8C-83A1-F6EECF244321}">
                <p14:modId xmlns:p14="http://schemas.microsoft.com/office/powerpoint/2010/main" val="1395725010"/>
              </p:ext>
            </p:extLst>
          </p:nvPr>
        </p:nvGraphicFramePr>
        <p:xfrm>
          <a:off x="2487560" y="2074606"/>
          <a:ext cx="8780513" cy="3636955"/>
        </p:xfrm>
        <a:graphic>
          <a:graphicData uri="http://schemas.openxmlformats.org/drawingml/2006/table">
            <a:tbl>
              <a:tblPr/>
              <a:tblGrid>
                <a:gridCol w="3292586">
                  <a:extLst>
                    <a:ext uri="{9D8B030D-6E8A-4147-A177-3AD203B41FA5}">
                      <a16:colId xmlns:a16="http://schemas.microsoft.com/office/drawing/2014/main" val="2352255984"/>
                    </a:ext>
                  </a:extLst>
                </a:gridCol>
                <a:gridCol w="5487927">
                  <a:extLst>
                    <a:ext uri="{9D8B030D-6E8A-4147-A177-3AD203B41FA5}">
                      <a16:colId xmlns:a16="http://schemas.microsoft.com/office/drawing/2014/main" val="3161495653"/>
                    </a:ext>
                  </a:extLst>
                </a:gridCol>
              </a:tblGrid>
              <a:tr h="519565">
                <a:tc>
                  <a:txBody>
                    <a:bodyPr/>
                    <a:lstStyle/>
                    <a:p>
                      <a:pPr>
                        <a:buNone/>
                      </a:pPr>
                      <a:r>
                        <a:rPr lang="en-IN" sz="2800" dirty="0"/>
                        <a:t>Key</a:t>
                      </a:r>
                    </a:p>
                  </a:txBody>
                  <a:tcPr anchor="ctr">
                    <a:lnL>
                      <a:noFill/>
                    </a:lnL>
                    <a:lnR>
                      <a:noFill/>
                    </a:lnR>
                    <a:lnT>
                      <a:noFill/>
                    </a:lnT>
                    <a:lnB>
                      <a:noFill/>
                    </a:lnB>
                    <a:noFill/>
                  </a:tcPr>
                </a:tc>
                <a:tc>
                  <a:txBody>
                    <a:bodyPr/>
                    <a:lstStyle/>
                    <a:p>
                      <a:pPr>
                        <a:buNone/>
                      </a:pPr>
                      <a:r>
                        <a:rPr lang="en-IN" sz="2800" dirty="0"/>
                        <a:t>Function</a:t>
                      </a:r>
                    </a:p>
                  </a:txBody>
                  <a:tcPr anchor="ctr">
                    <a:lnL>
                      <a:noFill/>
                    </a:lnL>
                    <a:lnR>
                      <a:noFill/>
                    </a:lnR>
                    <a:lnT>
                      <a:noFill/>
                    </a:lnT>
                    <a:lnB>
                      <a:noFill/>
                    </a:lnB>
                    <a:noFill/>
                  </a:tcPr>
                </a:tc>
                <a:extLst>
                  <a:ext uri="{0D108BD9-81ED-4DB2-BD59-A6C34878D82A}">
                    <a16:rowId xmlns:a16="http://schemas.microsoft.com/office/drawing/2014/main" val="2080875734"/>
                  </a:ext>
                </a:extLst>
              </a:tr>
              <a:tr h="519565">
                <a:tc>
                  <a:txBody>
                    <a:bodyPr/>
                    <a:lstStyle/>
                    <a:p>
                      <a:pPr>
                        <a:buNone/>
                      </a:pPr>
                      <a:r>
                        <a:rPr lang="en-IN" sz="2800"/>
                        <a:t>Mouse</a:t>
                      </a:r>
                    </a:p>
                  </a:txBody>
                  <a:tcPr anchor="ctr">
                    <a:lnL>
                      <a:noFill/>
                    </a:lnL>
                    <a:lnR>
                      <a:noFill/>
                    </a:lnR>
                    <a:lnT>
                      <a:noFill/>
                    </a:lnT>
                    <a:lnB>
                      <a:noFill/>
                    </a:lnB>
                    <a:noFill/>
                  </a:tcPr>
                </a:tc>
                <a:tc>
                  <a:txBody>
                    <a:bodyPr/>
                    <a:lstStyle/>
                    <a:p>
                      <a:pPr>
                        <a:buNone/>
                      </a:pPr>
                      <a:r>
                        <a:rPr lang="en-IN" sz="2800" dirty="0"/>
                        <a:t>Draw zone</a:t>
                      </a:r>
                    </a:p>
                  </a:txBody>
                  <a:tcPr anchor="ctr">
                    <a:lnL>
                      <a:noFill/>
                    </a:lnL>
                    <a:lnR>
                      <a:noFill/>
                    </a:lnR>
                    <a:lnT>
                      <a:noFill/>
                    </a:lnT>
                    <a:lnB>
                      <a:noFill/>
                    </a:lnB>
                    <a:noFill/>
                  </a:tcPr>
                </a:tc>
                <a:extLst>
                  <a:ext uri="{0D108BD9-81ED-4DB2-BD59-A6C34878D82A}">
                    <a16:rowId xmlns:a16="http://schemas.microsoft.com/office/drawing/2014/main" val="2964107178"/>
                  </a:ext>
                </a:extLst>
              </a:tr>
              <a:tr h="519565">
                <a:tc>
                  <a:txBody>
                    <a:bodyPr/>
                    <a:lstStyle/>
                    <a:p>
                      <a:pPr>
                        <a:buNone/>
                      </a:pPr>
                      <a:r>
                        <a:rPr lang="en-IN" sz="2800"/>
                        <a:t>d</a:t>
                      </a:r>
                    </a:p>
                  </a:txBody>
                  <a:tcPr anchor="ctr">
                    <a:lnL>
                      <a:noFill/>
                    </a:lnL>
                    <a:lnR>
                      <a:noFill/>
                    </a:lnR>
                    <a:lnT>
                      <a:noFill/>
                    </a:lnT>
                    <a:lnB>
                      <a:noFill/>
                    </a:lnB>
                    <a:noFill/>
                  </a:tcPr>
                </a:tc>
                <a:tc>
                  <a:txBody>
                    <a:bodyPr/>
                    <a:lstStyle/>
                    <a:p>
                      <a:pPr>
                        <a:buNone/>
                      </a:pPr>
                      <a:r>
                        <a:rPr lang="en-IN" sz="2800"/>
                        <a:t>Delete last zone</a:t>
                      </a:r>
                    </a:p>
                  </a:txBody>
                  <a:tcPr anchor="ctr">
                    <a:lnL>
                      <a:noFill/>
                    </a:lnL>
                    <a:lnR>
                      <a:noFill/>
                    </a:lnR>
                    <a:lnT>
                      <a:noFill/>
                    </a:lnT>
                    <a:lnB>
                      <a:noFill/>
                    </a:lnB>
                    <a:noFill/>
                  </a:tcPr>
                </a:tc>
                <a:extLst>
                  <a:ext uri="{0D108BD9-81ED-4DB2-BD59-A6C34878D82A}">
                    <a16:rowId xmlns:a16="http://schemas.microsoft.com/office/drawing/2014/main" val="592113364"/>
                  </a:ext>
                </a:extLst>
              </a:tr>
              <a:tr h="519565">
                <a:tc>
                  <a:txBody>
                    <a:bodyPr/>
                    <a:lstStyle/>
                    <a:p>
                      <a:pPr>
                        <a:buNone/>
                      </a:pPr>
                      <a:r>
                        <a:rPr lang="en-IN" sz="2800"/>
                        <a:t>r</a:t>
                      </a:r>
                    </a:p>
                  </a:txBody>
                  <a:tcPr anchor="ctr">
                    <a:lnL>
                      <a:noFill/>
                    </a:lnL>
                    <a:lnR>
                      <a:noFill/>
                    </a:lnR>
                    <a:lnT>
                      <a:noFill/>
                    </a:lnT>
                    <a:lnB>
                      <a:noFill/>
                    </a:lnB>
                    <a:noFill/>
                  </a:tcPr>
                </a:tc>
                <a:tc>
                  <a:txBody>
                    <a:bodyPr/>
                    <a:lstStyle/>
                    <a:p>
                      <a:pPr>
                        <a:buNone/>
                      </a:pPr>
                      <a:r>
                        <a:rPr lang="en-IN" sz="2800" dirty="0"/>
                        <a:t>Reset all zones</a:t>
                      </a:r>
                    </a:p>
                  </a:txBody>
                  <a:tcPr anchor="ctr">
                    <a:lnL>
                      <a:noFill/>
                    </a:lnL>
                    <a:lnR>
                      <a:noFill/>
                    </a:lnR>
                    <a:lnT>
                      <a:noFill/>
                    </a:lnT>
                    <a:lnB>
                      <a:noFill/>
                    </a:lnB>
                    <a:noFill/>
                  </a:tcPr>
                </a:tc>
                <a:extLst>
                  <a:ext uri="{0D108BD9-81ED-4DB2-BD59-A6C34878D82A}">
                    <a16:rowId xmlns:a16="http://schemas.microsoft.com/office/drawing/2014/main" val="596362658"/>
                  </a:ext>
                </a:extLst>
              </a:tr>
              <a:tr h="519565">
                <a:tc>
                  <a:txBody>
                    <a:bodyPr/>
                    <a:lstStyle/>
                    <a:p>
                      <a:pPr>
                        <a:buNone/>
                      </a:pPr>
                      <a:r>
                        <a:rPr lang="en-IN" sz="2800"/>
                        <a:t>p</a:t>
                      </a:r>
                    </a:p>
                  </a:txBody>
                  <a:tcPr anchor="ctr">
                    <a:lnL>
                      <a:noFill/>
                    </a:lnL>
                    <a:lnR>
                      <a:noFill/>
                    </a:lnR>
                    <a:lnT>
                      <a:noFill/>
                    </a:lnT>
                    <a:lnB>
                      <a:noFill/>
                    </a:lnB>
                    <a:noFill/>
                  </a:tcPr>
                </a:tc>
                <a:tc>
                  <a:txBody>
                    <a:bodyPr/>
                    <a:lstStyle/>
                    <a:p>
                      <a:pPr>
                        <a:buNone/>
                      </a:pPr>
                      <a:r>
                        <a:rPr lang="en-IN" sz="2800"/>
                        <a:t>Capture screenshot</a:t>
                      </a:r>
                    </a:p>
                  </a:txBody>
                  <a:tcPr anchor="ctr">
                    <a:lnL>
                      <a:noFill/>
                    </a:lnL>
                    <a:lnR>
                      <a:noFill/>
                    </a:lnR>
                    <a:lnT>
                      <a:noFill/>
                    </a:lnT>
                    <a:lnB>
                      <a:noFill/>
                    </a:lnB>
                    <a:noFill/>
                  </a:tcPr>
                </a:tc>
                <a:extLst>
                  <a:ext uri="{0D108BD9-81ED-4DB2-BD59-A6C34878D82A}">
                    <a16:rowId xmlns:a16="http://schemas.microsoft.com/office/drawing/2014/main" val="211679993"/>
                  </a:ext>
                </a:extLst>
              </a:tr>
              <a:tr h="519565">
                <a:tc>
                  <a:txBody>
                    <a:bodyPr/>
                    <a:lstStyle/>
                    <a:p>
                      <a:pPr>
                        <a:buNone/>
                      </a:pPr>
                      <a:r>
                        <a:rPr lang="en-IN" sz="2800"/>
                        <a:t>f</a:t>
                      </a:r>
                    </a:p>
                  </a:txBody>
                  <a:tcPr anchor="ctr">
                    <a:lnL>
                      <a:noFill/>
                    </a:lnL>
                    <a:lnR>
                      <a:noFill/>
                    </a:lnR>
                    <a:lnT>
                      <a:noFill/>
                    </a:lnT>
                    <a:lnB>
                      <a:noFill/>
                    </a:lnB>
                    <a:noFill/>
                  </a:tcPr>
                </a:tc>
                <a:tc>
                  <a:txBody>
                    <a:bodyPr/>
                    <a:lstStyle/>
                    <a:p>
                      <a:pPr>
                        <a:buNone/>
                      </a:pPr>
                      <a:r>
                        <a:rPr lang="en-IN" sz="2800"/>
                        <a:t>Toggle fullscreen</a:t>
                      </a:r>
                    </a:p>
                  </a:txBody>
                  <a:tcPr anchor="ctr">
                    <a:lnL>
                      <a:noFill/>
                    </a:lnL>
                    <a:lnR>
                      <a:noFill/>
                    </a:lnR>
                    <a:lnT>
                      <a:noFill/>
                    </a:lnT>
                    <a:lnB>
                      <a:noFill/>
                    </a:lnB>
                    <a:noFill/>
                  </a:tcPr>
                </a:tc>
                <a:extLst>
                  <a:ext uri="{0D108BD9-81ED-4DB2-BD59-A6C34878D82A}">
                    <a16:rowId xmlns:a16="http://schemas.microsoft.com/office/drawing/2014/main" val="3686841859"/>
                  </a:ext>
                </a:extLst>
              </a:tr>
              <a:tr h="519565">
                <a:tc>
                  <a:txBody>
                    <a:bodyPr/>
                    <a:lstStyle/>
                    <a:p>
                      <a:pPr>
                        <a:buNone/>
                      </a:pPr>
                      <a:r>
                        <a:rPr lang="en-IN" sz="2800"/>
                        <a:t>q</a:t>
                      </a:r>
                    </a:p>
                  </a:txBody>
                  <a:tcPr anchor="ctr">
                    <a:lnL>
                      <a:noFill/>
                    </a:lnL>
                    <a:lnR>
                      <a:noFill/>
                    </a:lnR>
                    <a:lnT>
                      <a:noFill/>
                    </a:lnT>
                    <a:lnB>
                      <a:noFill/>
                    </a:lnB>
                    <a:noFill/>
                  </a:tcPr>
                </a:tc>
                <a:tc>
                  <a:txBody>
                    <a:bodyPr/>
                    <a:lstStyle/>
                    <a:p>
                      <a:pPr>
                        <a:buNone/>
                      </a:pPr>
                      <a:r>
                        <a:rPr lang="en-IN" sz="2800" dirty="0"/>
                        <a:t>Quit</a:t>
                      </a:r>
                    </a:p>
                  </a:txBody>
                  <a:tcPr anchor="ctr">
                    <a:lnL>
                      <a:noFill/>
                    </a:lnL>
                    <a:lnR>
                      <a:noFill/>
                    </a:lnR>
                    <a:lnT>
                      <a:noFill/>
                    </a:lnT>
                    <a:lnB>
                      <a:noFill/>
                    </a:lnB>
                    <a:noFill/>
                  </a:tcPr>
                </a:tc>
                <a:extLst>
                  <a:ext uri="{0D108BD9-81ED-4DB2-BD59-A6C34878D82A}">
                    <a16:rowId xmlns:a16="http://schemas.microsoft.com/office/drawing/2014/main" val="1739498694"/>
                  </a:ext>
                </a:extLst>
              </a:tr>
            </a:tbl>
          </a:graphicData>
        </a:graphic>
      </p:graphicFrame>
    </p:spTree>
    <p:extLst>
      <p:ext uri="{BB962C8B-B14F-4D97-AF65-F5344CB8AC3E}">
        <p14:creationId xmlns:p14="http://schemas.microsoft.com/office/powerpoint/2010/main" val="35152316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C5D5A-A71C-E303-3AED-7FAA05B8A9F1}"/>
              </a:ext>
            </a:extLst>
          </p:cNvPr>
          <p:cNvSpPr>
            <a:spLocks noGrp="1"/>
          </p:cNvSpPr>
          <p:nvPr>
            <p:ph type="title"/>
          </p:nvPr>
        </p:nvSpPr>
        <p:spPr>
          <a:xfrm>
            <a:off x="618827" y="228077"/>
            <a:ext cx="10353761" cy="1326321"/>
          </a:xfrm>
        </p:spPr>
        <p:txBody>
          <a:bodyPr/>
          <a:lstStyle/>
          <a:p>
            <a:r>
              <a:rPr lang="en-IN" dirty="0"/>
              <a:t>	Output</a:t>
            </a:r>
          </a:p>
        </p:txBody>
      </p:sp>
      <p:pic>
        <p:nvPicPr>
          <p:cNvPr id="5" name="Picture 4">
            <a:extLst>
              <a:ext uri="{FF2B5EF4-FFF2-40B4-BE49-F238E27FC236}">
                <a16:creationId xmlns:a16="http://schemas.microsoft.com/office/drawing/2014/main" id="{D9460674-5AD1-04D5-3A66-92D65F4BBAE7}"/>
              </a:ext>
            </a:extLst>
          </p:cNvPr>
          <p:cNvPicPr>
            <a:picLocks noChangeAspect="1"/>
          </p:cNvPicPr>
          <p:nvPr/>
        </p:nvPicPr>
        <p:blipFill>
          <a:blip r:embed="rId2"/>
          <a:stretch>
            <a:fillRect/>
          </a:stretch>
        </p:blipFill>
        <p:spPr>
          <a:xfrm>
            <a:off x="439443" y="1592826"/>
            <a:ext cx="5577899" cy="4655574"/>
          </a:xfrm>
          <a:prstGeom prst="rect">
            <a:avLst/>
          </a:prstGeom>
        </p:spPr>
      </p:pic>
      <p:pic>
        <p:nvPicPr>
          <p:cNvPr id="7" name="Picture 6">
            <a:extLst>
              <a:ext uri="{FF2B5EF4-FFF2-40B4-BE49-F238E27FC236}">
                <a16:creationId xmlns:a16="http://schemas.microsoft.com/office/drawing/2014/main" id="{41F1BAB4-AE99-85FE-6665-742F0DF030AF}"/>
              </a:ext>
            </a:extLst>
          </p:cNvPr>
          <p:cNvPicPr>
            <a:picLocks noChangeAspect="1"/>
          </p:cNvPicPr>
          <p:nvPr/>
        </p:nvPicPr>
        <p:blipFill>
          <a:blip r:embed="rId3"/>
          <a:stretch>
            <a:fillRect/>
          </a:stretch>
        </p:blipFill>
        <p:spPr>
          <a:xfrm>
            <a:off x="6174660" y="1554398"/>
            <a:ext cx="5189670" cy="4732430"/>
          </a:xfrm>
          <a:prstGeom prst="rect">
            <a:avLst/>
          </a:prstGeom>
        </p:spPr>
      </p:pic>
    </p:spTree>
    <p:extLst>
      <p:ext uri="{BB962C8B-B14F-4D97-AF65-F5344CB8AC3E}">
        <p14:creationId xmlns:p14="http://schemas.microsoft.com/office/powerpoint/2010/main" val="11871522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8DC00C-E363-8EED-A9BD-4FB924AA60F0}"/>
              </a:ext>
            </a:extLst>
          </p:cNvPr>
          <p:cNvPicPr>
            <a:picLocks noChangeAspect="1"/>
          </p:cNvPicPr>
          <p:nvPr/>
        </p:nvPicPr>
        <p:blipFill>
          <a:blip r:embed="rId2"/>
          <a:stretch>
            <a:fillRect/>
          </a:stretch>
        </p:blipFill>
        <p:spPr>
          <a:xfrm>
            <a:off x="2713704" y="1047031"/>
            <a:ext cx="6508954" cy="4871988"/>
          </a:xfrm>
          <a:prstGeom prst="rect">
            <a:avLst/>
          </a:prstGeom>
        </p:spPr>
      </p:pic>
    </p:spTree>
    <p:extLst>
      <p:ext uri="{BB962C8B-B14F-4D97-AF65-F5344CB8AC3E}">
        <p14:creationId xmlns:p14="http://schemas.microsoft.com/office/powerpoint/2010/main" val="24156606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9579E-5BEF-73BF-DBDF-9B99C10000CA}"/>
              </a:ext>
            </a:extLst>
          </p:cNvPr>
          <p:cNvSpPr>
            <a:spLocks noGrp="1"/>
          </p:cNvSpPr>
          <p:nvPr>
            <p:ph type="title"/>
          </p:nvPr>
        </p:nvSpPr>
        <p:spPr/>
        <p:txBody>
          <a:bodyPr/>
          <a:lstStyle/>
          <a:p>
            <a:r>
              <a:rPr lang="en-IN" dirty="0"/>
              <a:t>MILESTONE-3</a:t>
            </a:r>
          </a:p>
        </p:txBody>
      </p:sp>
      <p:sp>
        <p:nvSpPr>
          <p:cNvPr id="4" name="Rectangle 1">
            <a:extLst>
              <a:ext uri="{FF2B5EF4-FFF2-40B4-BE49-F238E27FC236}">
                <a16:creationId xmlns:a16="http://schemas.microsoft.com/office/drawing/2014/main" id="{9903FD9C-87A5-C224-3E16-3E246B2190A1}"/>
              </a:ext>
            </a:extLst>
          </p:cNvPr>
          <p:cNvSpPr>
            <a:spLocks noGrp="1" noChangeArrowheads="1"/>
          </p:cNvSpPr>
          <p:nvPr>
            <p:ph idx="1"/>
          </p:nvPr>
        </p:nvSpPr>
        <p:spPr bwMode="auto">
          <a:xfrm>
            <a:off x="1877356" y="2962572"/>
            <a:ext cx="865692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rPr>
              <a:t>simulation-based crowd tracking system</a:t>
            </a:r>
            <a:r>
              <a:rPr kumimoji="0" lang="en-US" altLang="en-US" sz="32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2374609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C375-F4CE-1792-EF96-9C66231ED1DB}"/>
              </a:ext>
            </a:extLst>
          </p:cNvPr>
          <p:cNvSpPr>
            <a:spLocks noGrp="1"/>
          </p:cNvSpPr>
          <p:nvPr>
            <p:ph type="title"/>
          </p:nvPr>
        </p:nvSpPr>
        <p:spPr/>
        <p:txBody>
          <a:bodyPr/>
          <a:lstStyle/>
          <a:p>
            <a:r>
              <a:rPr lang="en-IN" dirty="0"/>
              <a:t>System Workflow</a:t>
            </a:r>
          </a:p>
        </p:txBody>
      </p:sp>
      <p:sp>
        <p:nvSpPr>
          <p:cNvPr id="4" name="Rectangle 1">
            <a:extLst>
              <a:ext uri="{FF2B5EF4-FFF2-40B4-BE49-F238E27FC236}">
                <a16:creationId xmlns:a16="http://schemas.microsoft.com/office/drawing/2014/main" id="{11A40CD8-C843-9FBC-146D-3BFC938AC4CB}"/>
              </a:ext>
            </a:extLst>
          </p:cNvPr>
          <p:cNvSpPr>
            <a:spLocks noGrp="1" noChangeArrowheads="1"/>
          </p:cNvSpPr>
          <p:nvPr>
            <p:ph idx="1"/>
          </p:nvPr>
        </p:nvSpPr>
        <p:spPr bwMode="auto">
          <a:xfrm>
            <a:off x="2024840" y="1526680"/>
            <a:ext cx="5773440" cy="4538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Initialize virtual persons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Assign unique IDs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Move persons randomly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Detect crossing of boundary line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Update entry/exit counts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Store data in CSV </a:t>
            </a:r>
          </a:p>
        </p:txBody>
      </p:sp>
    </p:spTree>
    <p:extLst>
      <p:ext uri="{BB962C8B-B14F-4D97-AF65-F5344CB8AC3E}">
        <p14:creationId xmlns:p14="http://schemas.microsoft.com/office/powerpoint/2010/main" val="32219858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C8346-2F11-08AA-D82A-227A70BCB584}"/>
              </a:ext>
            </a:extLst>
          </p:cNvPr>
          <p:cNvSpPr>
            <a:spLocks noGrp="1"/>
          </p:cNvSpPr>
          <p:nvPr>
            <p:ph type="title"/>
          </p:nvPr>
        </p:nvSpPr>
        <p:spPr/>
        <p:txBody>
          <a:bodyPr/>
          <a:lstStyle/>
          <a:p>
            <a:r>
              <a:rPr lang="en-IN" dirty="0"/>
              <a:t>Technologies Used</a:t>
            </a:r>
          </a:p>
        </p:txBody>
      </p:sp>
      <p:sp>
        <p:nvSpPr>
          <p:cNvPr id="4" name="Rectangle 1">
            <a:extLst>
              <a:ext uri="{FF2B5EF4-FFF2-40B4-BE49-F238E27FC236}">
                <a16:creationId xmlns:a16="http://schemas.microsoft.com/office/drawing/2014/main" id="{6686B949-DCA2-28F7-4F14-C89C73185148}"/>
              </a:ext>
            </a:extLst>
          </p:cNvPr>
          <p:cNvSpPr>
            <a:spLocks noGrp="1" noChangeArrowheads="1"/>
          </p:cNvSpPr>
          <p:nvPr>
            <p:ph idx="1"/>
          </p:nvPr>
        </p:nvSpPr>
        <p:spPr bwMode="auto">
          <a:xfrm>
            <a:off x="1779033" y="2300735"/>
            <a:ext cx="7368492" cy="3246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Python</a:t>
            </a: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OpenCV</a:t>
            </a:r>
            <a:r>
              <a:rPr kumimoji="0" lang="en-US" altLang="en-US" sz="2800" b="0" i="0" u="none" strike="noStrike" cap="none" normalizeH="0" baseline="0" dirty="0">
                <a:ln>
                  <a:noFill/>
                </a:ln>
                <a:solidFill>
                  <a:schemeClr val="tx1"/>
                </a:solidFill>
                <a:effectLst/>
              </a:rPr>
              <a:t> → Visualization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NumPy</a:t>
            </a:r>
            <a:r>
              <a:rPr kumimoji="0" lang="en-US" altLang="en-US" sz="2800" b="0" i="0" u="none" strike="noStrike" cap="none" normalizeH="0" baseline="0" dirty="0">
                <a:ln>
                  <a:noFill/>
                </a:ln>
                <a:solidFill>
                  <a:schemeClr val="tx1"/>
                </a:solidFill>
                <a:effectLst/>
              </a:rPr>
              <a:t> → Frame creation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CSV</a:t>
            </a:r>
            <a:r>
              <a:rPr kumimoji="0" lang="en-US" altLang="en-US" sz="2800" b="0" i="0" u="none" strike="noStrike" cap="none" normalizeH="0" baseline="0" dirty="0">
                <a:ln>
                  <a:noFill/>
                </a:ln>
                <a:solidFill>
                  <a:schemeClr val="tx1"/>
                </a:solidFill>
                <a:effectLst/>
              </a:rPr>
              <a:t> → Data logging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Random module</a:t>
            </a:r>
            <a:r>
              <a:rPr kumimoji="0" lang="en-US" altLang="en-US" sz="2800" b="0" i="0" u="none" strike="noStrike" cap="none" normalizeH="0" baseline="0" dirty="0">
                <a:ln>
                  <a:noFill/>
                </a:ln>
                <a:solidFill>
                  <a:schemeClr val="tx1"/>
                </a:solidFill>
                <a:effectLst/>
              </a:rPr>
              <a:t> → Movement simulation </a:t>
            </a:r>
          </a:p>
        </p:txBody>
      </p:sp>
    </p:spTree>
    <p:extLst>
      <p:ext uri="{BB962C8B-B14F-4D97-AF65-F5344CB8AC3E}">
        <p14:creationId xmlns:p14="http://schemas.microsoft.com/office/powerpoint/2010/main" val="5166975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DBD72-5F21-30A8-40D2-B0591AF8E6A4}"/>
              </a:ext>
            </a:extLst>
          </p:cNvPr>
          <p:cNvSpPr>
            <a:spLocks noGrp="1"/>
          </p:cNvSpPr>
          <p:nvPr>
            <p:ph type="title"/>
          </p:nvPr>
        </p:nvSpPr>
        <p:spPr/>
        <p:txBody>
          <a:bodyPr/>
          <a:lstStyle/>
          <a:p>
            <a:r>
              <a:rPr lang="en-IN" dirty="0"/>
              <a:t>Key Features</a:t>
            </a:r>
          </a:p>
        </p:txBody>
      </p:sp>
      <p:sp>
        <p:nvSpPr>
          <p:cNvPr id="3" name="Content Placeholder 2">
            <a:extLst>
              <a:ext uri="{FF2B5EF4-FFF2-40B4-BE49-F238E27FC236}">
                <a16:creationId xmlns:a16="http://schemas.microsoft.com/office/drawing/2014/main" id="{050E62D8-5BB4-56D6-2AA4-CDE5A865D584}"/>
              </a:ext>
            </a:extLst>
          </p:cNvPr>
          <p:cNvSpPr>
            <a:spLocks noGrp="1"/>
          </p:cNvSpPr>
          <p:nvPr>
            <p:ph idx="1"/>
          </p:nvPr>
        </p:nvSpPr>
        <p:spPr>
          <a:xfrm>
            <a:off x="1297253" y="2076400"/>
            <a:ext cx="10353762" cy="3695136"/>
          </a:xfrm>
        </p:spPr>
        <p:txBody>
          <a:bodyPr>
            <a:noAutofit/>
          </a:bodyPr>
          <a:lstStyle/>
          <a:p>
            <a:pPr marL="0" indent="0">
              <a:lnSpc>
                <a:spcPct val="150000"/>
              </a:lnSpc>
              <a:buNone/>
            </a:pPr>
            <a:r>
              <a:rPr lang="en-US" sz="2800" dirty="0"/>
              <a:t>✔ Real-time simulation</a:t>
            </a:r>
            <a:br>
              <a:rPr lang="en-US" sz="2800" dirty="0"/>
            </a:br>
            <a:r>
              <a:rPr lang="en-US" sz="2800" dirty="0"/>
              <a:t>✔ Unique person identification</a:t>
            </a:r>
            <a:br>
              <a:rPr lang="en-US" sz="2800" dirty="0"/>
            </a:br>
            <a:r>
              <a:rPr lang="en-US" sz="2800" dirty="0"/>
              <a:t>✔ Entry &amp; exit detection</a:t>
            </a:r>
            <a:br>
              <a:rPr lang="en-US" sz="2800" dirty="0"/>
            </a:br>
            <a:r>
              <a:rPr lang="en-US" sz="2800" dirty="0"/>
              <a:t>✔ Zone-based counting</a:t>
            </a:r>
            <a:br>
              <a:rPr lang="en-US" sz="2800" dirty="0"/>
            </a:br>
            <a:r>
              <a:rPr lang="en-US" sz="2800" dirty="0"/>
              <a:t>✔ Data logging to CSV</a:t>
            </a:r>
            <a:br>
              <a:rPr lang="en-US" sz="2800" dirty="0"/>
            </a:br>
            <a:r>
              <a:rPr lang="en-US" sz="2800" dirty="0"/>
              <a:t>✔ Visual tracking with IDs</a:t>
            </a:r>
            <a:endParaRPr lang="en-IN" sz="2800" dirty="0"/>
          </a:p>
        </p:txBody>
      </p:sp>
    </p:spTree>
    <p:extLst>
      <p:ext uri="{BB962C8B-B14F-4D97-AF65-F5344CB8AC3E}">
        <p14:creationId xmlns:p14="http://schemas.microsoft.com/office/powerpoint/2010/main" val="14488654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3AB1-3A75-FF92-3CF9-2EF2CBFB407C}"/>
              </a:ext>
            </a:extLst>
          </p:cNvPr>
          <p:cNvSpPr>
            <a:spLocks noGrp="1"/>
          </p:cNvSpPr>
          <p:nvPr>
            <p:ph type="title"/>
          </p:nvPr>
        </p:nvSpPr>
        <p:spPr/>
        <p:txBody>
          <a:bodyPr/>
          <a:lstStyle/>
          <a:p>
            <a:r>
              <a:rPr lang="en-IN" dirty="0"/>
              <a:t>Output</a:t>
            </a:r>
          </a:p>
        </p:txBody>
      </p:sp>
      <p:pic>
        <p:nvPicPr>
          <p:cNvPr id="5" name="Content Placeholder 4">
            <a:extLst>
              <a:ext uri="{FF2B5EF4-FFF2-40B4-BE49-F238E27FC236}">
                <a16:creationId xmlns:a16="http://schemas.microsoft.com/office/drawing/2014/main" id="{611D4AEE-6D1D-4EBD-7D6D-364E829633ED}"/>
              </a:ext>
            </a:extLst>
          </p:cNvPr>
          <p:cNvPicPr>
            <a:picLocks noGrp="1" noChangeAspect="1"/>
          </p:cNvPicPr>
          <p:nvPr>
            <p:ph idx="1"/>
          </p:nvPr>
        </p:nvPicPr>
        <p:blipFill>
          <a:blip r:embed="rId2"/>
          <a:stretch>
            <a:fillRect/>
          </a:stretch>
        </p:blipFill>
        <p:spPr>
          <a:xfrm>
            <a:off x="1238864" y="2117817"/>
            <a:ext cx="5240593" cy="3653718"/>
          </a:xfrm>
          <a:prstGeom prst="rect">
            <a:avLst/>
          </a:prstGeom>
        </p:spPr>
      </p:pic>
      <p:pic>
        <p:nvPicPr>
          <p:cNvPr id="7" name="Picture 6">
            <a:extLst>
              <a:ext uri="{FF2B5EF4-FFF2-40B4-BE49-F238E27FC236}">
                <a16:creationId xmlns:a16="http://schemas.microsoft.com/office/drawing/2014/main" id="{D431C17F-70C1-6990-89EA-E158836284BE}"/>
              </a:ext>
            </a:extLst>
          </p:cNvPr>
          <p:cNvPicPr>
            <a:picLocks noChangeAspect="1"/>
          </p:cNvPicPr>
          <p:nvPr/>
        </p:nvPicPr>
        <p:blipFill>
          <a:blip r:embed="rId3"/>
          <a:stretch>
            <a:fillRect/>
          </a:stretch>
        </p:blipFill>
        <p:spPr>
          <a:xfrm>
            <a:off x="6874161" y="1723253"/>
            <a:ext cx="4747567" cy="4442845"/>
          </a:xfrm>
          <a:prstGeom prst="rect">
            <a:avLst/>
          </a:prstGeom>
        </p:spPr>
      </p:pic>
    </p:spTree>
    <p:extLst>
      <p:ext uri="{BB962C8B-B14F-4D97-AF65-F5344CB8AC3E}">
        <p14:creationId xmlns:p14="http://schemas.microsoft.com/office/powerpoint/2010/main" val="14066081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7DC3-AE19-B35C-C2AF-E2D833F7D82E}"/>
              </a:ext>
            </a:extLst>
          </p:cNvPr>
          <p:cNvSpPr>
            <a:spLocks noGrp="1"/>
          </p:cNvSpPr>
          <p:nvPr>
            <p:ph type="title"/>
          </p:nvPr>
        </p:nvSpPr>
        <p:spPr>
          <a:xfrm>
            <a:off x="697486" y="2585884"/>
            <a:ext cx="10353761" cy="1326321"/>
          </a:xfrm>
        </p:spPr>
        <p:txBody>
          <a:bodyPr/>
          <a:lstStyle/>
          <a:p>
            <a:r>
              <a:rPr lang="en-IN" dirty="0"/>
              <a:t>MILESTONE-4</a:t>
            </a:r>
          </a:p>
        </p:txBody>
      </p:sp>
    </p:spTree>
    <p:extLst>
      <p:ext uri="{BB962C8B-B14F-4D97-AF65-F5344CB8AC3E}">
        <p14:creationId xmlns:p14="http://schemas.microsoft.com/office/powerpoint/2010/main" val="14707255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B83B8-72A0-6E1C-A1C9-0FCBF9BC495C}"/>
              </a:ext>
            </a:extLst>
          </p:cNvPr>
          <p:cNvSpPr>
            <a:spLocks noGrp="1"/>
          </p:cNvSpPr>
          <p:nvPr>
            <p:ph type="title"/>
          </p:nvPr>
        </p:nvSpPr>
        <p:spPr>
          <a:xfrm>
            <a:off x="599163" y="285136"/>
            <a:ext cx="10353761" cy="1032387"/>
          </a:xfrm>
        </p:spPr>
        <p:txBody>
          <a:bodyPr/>
          <a:lstStyle/>
          <a:p>
            <a:pPr algn="l"/>
            <a:r>
              <a:rPr lang="en-IN" dirty="0"/>
              <a:t>TASKS:</a:t>
            </a:r>
          </a:p>
        </p:txBody>
      </p:sp>
      <p:sp>
        <p:nvSpPr>
          <p:cNvPr id="3" name="Content Placeholder 2">
            <a:extLst>
              <a:ext uri="{FF2B5EF4-FFF2-40B4-BE49-F238E27FC236}">
                <a16:creationId xmlns:a16="http://schemas.microsoft.com/office/drawing/2014/main" id="{F5EBE20E-A327-2996-CDCF-978453AEE787}"/>
              </a:ext>
            </a:extLst>
          </p:cNvPr>
          <p:cNvSpPr>
            <a:spLocks noGrp="1"/>
          </p:cNvSpPr>
          <p:nvPr>
            <p:ph idx="1"/>
          </p:nvPr>
        </p:nvSpPr>
        <p:spPr>
          <a:xfrm>
            <a:off x="726982" y="1486463"/>
            <a:ext cx="10353762" cy="4875007"/>
          </a:xfrm>
        </p:spPr>
        <p:txBody>
          <a:bodyPr>
            <a:normAutofit lnSpcReduction="10000"/>
          </a:bodyPr>
          <a:lstStyle/>
          <a:p>
            <a:pPr>
              <a:buFont typeface="Wingdings" panose="05000000000000000000" pitchFamily="2" charset="2"/>
              <a:buChar char="v"/>
            </a:pPr>
            <a:r>
              <a:rPr lang="en-IN" dirty="0"/>
              <a:t>Task 1 – Store Crowd Data </a:t>
            </a:r>
          </a:p>
          <a:p>
            <a:pPr>
              <a:buFont typeface="Wingdings" panose="05000000000000000000" pitchFamily="2" charset="2"/>
              <a:buChar char="v"/>
            </a:pPr>
            <a:r>
              <a:rPr lang="en-IN" dirty="0"/>
              <a:t>Task 2 – Display Live Crowd Statistics </a:t>
            </a:r>
          </a:p>
          <a:p>
            <a:pPr>
              <a:buFont typeface="Wingdings" panose="05000000000000000000" pitchFamily="2" charset="2"/>
              <a:buChar char="v"/>
            </a:pPr>
            <a:r>
              <a:rPr lang="en-IN" dirty="0"/>
              <a:t> Task 3 – Create Overcrowding Alert </a:t>
            </a:r>
          </a:p>
          <a:p>
            <a:pPr>
              <a:buFont typeface="Wingdings" panose="05000000000000000000" pitchFamily="2" charset="2"/>
              <a:buChar char="v"/>
            </a:pPr>
            <a:r>
              <a:rPr lang="en-IN" dirty="0"/>
              <a:t> Task 4 – Show Alert on Screen </a:t>
            </a:r>
          </a:p>
          <a:p>
            <a:pPr>
              <a:buFont typeface="Wingdings" panose="05000000000000000000" pitchFamily="2" charset="2"/>
              <a:buChar char="v"/>
            </a:pPr>
            <a:r>
              <a:rPr lang="en-IN" dirty="0"/>
              <a:t> Task 5 – Save Alert Screenshot </a:t>
            </a:r>
          </a:p>
          <a:p>
            <a:pPr>
              <a:buFont typeface="Wingdings" panose="05000000000000000000" pitchFamily="2" charset="2"/>
              <a:buChar char="v"/>
            </a:pPr>
            <a:r>
              <a:rPr lang="en-IN" dirty="0"/>
              <a:t> Task 6 – Generate Crowd Report </a:t>
            </a:r>
          </a:p>
          <a:p>
            <a:pPr>
              <a:buFont typeface="Wingdings" panose="05000000000000000000" pitchFamily="2" charset="2"/>
              <a:buChar char="v"/>
            </a:pPr>
            <a:r>
              <a:rPr lang="en-IN" dirty="0"/>
              <a:t> Task 7 – Create Simple Graphs </a:t>
            </a:r>
          </a:p>
          <a:p>
            <a:pPr>
              <a:buFont typeface="Wingdings" panose="05000000000000000000" pitchFamily="2" charset="2"/>
              <a:buChar char="v"/>
            </a:pPr>
            <a:r>
              <a:rPr lang="en-IN" dirty="0"/>
              <a:t> Task 8 – Build Monitoring Interface </a:t>
            </a:r>
          </a:p>
          <a:p>
            <a:pPr>
              <a:buFont typeface="Wingdings" panose="05000000000000000000" pitchFamily="2" charset="2"/>
              <a:buChar char="v"/>
            </a:pPr>
            <a:r>
              <a:rPr lang="en-IN" dirty="0"/>
              <a:t>Task 9 – Add System Logs </a:t>
            </a:r>
          </a:p>
          <a:p>
            <a:pPr>
              <a:buFont typeface="Wingdings" panose="05000000000000000000" pitchFamily="2" charset="2"/>
              <a:buChar char="v"/>
            </a:pPr>
            <a:r>
              <a:rPr lang="en-IN" dirty="0"/>
              <a:t>Task 10 – Final System Testing</a:t>
            </a:r>
          </a:p>
        </p:txBody>
      </p:sp>
    </p:spTree>
    <p:extLst>
      <p:ext uri="{BB962C8B-B14F-4D97-AF65-F5344CB8AC3E}">
        <p14:creationId xmlns:p14="http://schemas.microsoft.com/office/powerpoint/2010/main" val="39935042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2F734-C6A3-93E6-8FDA-A090697085EE}"/>
              </a:ext>
            </a:extLst>
          </p:cNvPr>
          <p:cNvSpPr>
            <a:spLocks noGrp="1"/>
          </p:cNvSpPr>
          <p:nvPr>
            <p:ph type="title"/>
          </p:nvPr>
        </p:nvSpPr>
        <p:spPr/>
        <p:txBody>
          <a:bodyPr/>
          <a:lstStyle/>
          <a:p>
            <a:r>
              <a:rPr lang="en-IN" dirty="0"/>
              <a:t>Overcrowding alert</a:t>
            </a:r>
          </a:p>
        </p:txBody>
      </p:sp>
      <p:pic>
        <p:nvPicPr>
          <p:cNvPr id="5" name="Content Placeholder 4">
            <a:extLst>
              <a:ext uri="{FF2B5EF4-FFF2-40B4-BE49-F238E27FC236}">
                <a16:creationId xmlns:a16="http://schemas.microsoft.com/office/drawing/2014/main" id="{A44C57CF-5D37-D278-C60E-7F0A0A28D697}"/>
              </a:ext>
            </a:extLst>
          </p:cNvPr>
          <p:cNvPicPr>
            <a:picLocks noGrp="1" noChangeAspect="1"/>
          </p:cNvPicPr>
          <p:nvPr>
            <p:ph idx="1"/>
          </p:nvPr>
        </p:nvPicPr>
        <p:blipFill>
          <a:blip r:embed="rId2"/>
          <a:stretch>
            <a:fillRect/>
          </a:stretch>
        </p:blipFill>
        <p:spPr>
          <a:xfrm>
            <a:off x="2620359" y="2095500"/>
            <a:ext cx="6941756" cy="3695700"/>
          </a:xfrm>
          <a:prstGeom prst="rect">
            <a:avLst/>
          </a:prstGeom>
        </p:spPr>
      </p:pic>
    </p:spTree>
    <p:extLst>
      <p:ext uri="{BB962C8B-B14F-4D97-AF65-F5344CB8AC3E}">
        <p14:creationId xmlns:p14="http://schemas.microsoft.com/office/powerpoint/2010/main" val="6707768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87958-BCD8-4431-BB83-845D8C29CD33}"/>
              </a:ext>
            </a:extLst>
          </p:cNvPr>
          <p:cNvSpPr>
            <a:spLocks noGrp="1"/>
          </p:cNvSpPr>
          <p:nvPr>
            <p:ph type="title"/>
          </p:nvPr>
        </p:nvSpPr>
        <p:spPr>
          <a:xfrm>
            <a:off x="274698" y="255639"/>
            <a:ext cx="10353761" cy="1326321"/>
          </a:xfrm>
        </p:spPr>
        <p:txBody>
          <a:bodyPr/>
          <a:lstStyle/>
          <a:p>
            <a:pPr algn="l"/>
            <a:r>
              <a:rPr lang="en-IN" dirty="0"/>
              <a:t>Technologies Used:</a:t>
            </a:r>
          </a:p>
        </p:txBody>
      </p:sp>
      <p:graphicFrame>
        <p:nvGraphicFramePr>
          <p:cNvPr id="4" name="Content Placeholder 3">
            <a:extLst>
              <a:ext uri="{FF2B5EF4-FFF2-40B4-BE49-F238E27FC236}">
                <a16:creationId xmlns:a16="http://schemas.microsoft.com/office/drawing/2014/main" id="{CCADDC18-1DE7-5E61-3E6F-07768DED49B9}"/>
              </a:ext>
            </a:extLst>
          </p:cNvPr>
          <p:cNvGraphicFramePr>
            <a:graphicFrameLocks noGrp="1"/>
          </p:cNvGraphicFramePr>
          <p:nvPr>
            <p:ph idx="1"/>
            <p:extLst>
              <p:ext uri="{D42A27DB-BD31-4B8C-83A1-F6EECF244321}">
                <p14:modId xmlns:p14="http://schemas.microsoft.com/office/powerpoint/2010/main" val="4191513933"/>
              </p:ext>
            </p:extLst>
          </p:nvPr>
        </p:nvGraphicFramePr>
        <p:xfrm>
          <a:off x="919163" y="1829415"/>
          <a:ext cx="10353674" cy="3962400"/>
        </p:xfrm>
        <a:graphic>
          <a:graphicData uri="http://schemas.openxmlformats.org/drawingml/2006/table">
            <a:tbl>
              <a:tblPr/>
              <a:tblGrid>
                <a:gridCol w="5176837">
                  <a:extLst>
                    <a:ext uri="{9D8B030D-6E8A-4147-A177-3AD203B41FA5}">
                      <a16:colId xmlns:a16="http://schemas.microsoft.com/office/drawing/2014/main" val="2110983560"/>
                    </a:ext>
                  </a:extLst>
                </a:gridCol>
                <a:gridCol w="5176837">
                  <a:extLst>
                    <a:ext uri="{9D8B030D-6E8A-4147-A177-3AD203B41FA5}">
                      <a16:colId xmlns:a16="http://schemas.microsoft.com/office/drawing/2014/main" val="3990820083"/>
                    </a:ext>
                  </a:extLst>
                </a:gridCol>
              </a:tblGrid>
              <a:tr h="365760">
                <a:tc>
                  <a:txBody>
                    <a:bodyPr/>
                    <a:lstStyle/>
                    <a:p>
                      <a:pPr>
                        <a:buNone/>
                      </a:pPr>
                      <a:r>
                        <a:rPr lang="en-IN" sz="2000" b="0"/>
                        <a:t>Technology</a:t>
                      </a:r>
                    </a:p>
                  </a:txBody>
                  <a:tcPr anchor="ctr">
                    <a:lnL>
                      <a:noFill/>
                    </a:lnL>
                    <a:lnR>
                      <a:noFill/>
                    </a:lnR>
                    <a:lnT>
                      <a:noFill/>
                    </a:lnT>
                    <a:lnB>
                      <a:noFill/>
                    </a:lnB>
                    <a:noFill/>
                  </a:tcPr>
                </a:tc>
                <a:tc>
                  <a:txBody>
                    <a:bodyPr/>
                    <a:lstStyle/>
                    <a:p>
                      <a:pPr>
                        <a:buNone/>
                      </a:pPr>
                      <a:r>
                        <a:rPr lang="en-IN" sz="2000" b="0"/>
                        <a:t>Purpose</a:t>
                      </a:r>
                    </a:p>
                  </a:txBody>
                  <a:tcPr anchor="ctr">
                    <a:lnL>
                      <a:noFill/>
                    </a:lnL>
                    <a:lnR>
                      <a:noFill/>
                    </a:lnR>
                    <a:lnT>
                      <a:noFill/>
                    </a:lnT>
                    <a:lnB>
                      <a:noFill/>
                    </a:lnB>
                    <a:noFill/>
                  </a:tcPr>
                </a:tc>
                <a:extLst>
                  <a:ext uri="{0D108BD9-81ED-4DB2-BD59-A6C34878D82A}">
                    <a16:rowId xmlns:a16="http://schemas.microsoft.com/office/drawing/2014/main" val="3323490334"/>
                  </a:ext>
                </a:extLst>
              </a:tr>
              <a:tr h="365760">
                <a:tc>
                  <a:txBody>
                    <a:bodyPr/>
                    <a:lstStyle/>
                    <a:p>
                      <a:pPr>
                        <a:buNone/>
                      </a:pPr>
                      <a:r>
                        <a:rPr lang="en-IN" sz="2000" b="0" dirty="0"/>
                        <a:t>Python</a:t>
                      </a:r>
                    </a:p>
                  </a:txBody>
                  <a:tcPr anchor="ctr">
                    <a:lnL>
                      <a:noFill/>
                    </a:lnL>
                    <a:lnR>
                      <a:noFill/>
                    </a:lnR>
                    <a:lnT>
                      <a:noFill/>
                    </a:lnT>
                    <a:lnB>
                      <a:noFill/>
                    </a:lnB>
                    <a:noFill/>
                  </a:tcPr>
                </a:tc>
                <a:tc>
                  <a:txBody>
                    <a:bodyPr/>
                    <a:lstStyle/>
                    <a:p>
                      <a:pPr>
                        <a:buNone/>
                      </a:pPr>
                      <a:r>
                        <a:rPr lang="en-IN" sz="2000" b="0" dirty="0"/>
                        <a:t>Core programming language</a:t>
                      </a:r>
                    </a:p>
                  </a:txBody>
                  <a:tcPr anchor="ctr">
                    <a:lnL>
                      <a:noFill/>
                    </a:lnL>
                    <a:lnR>
                      <a:noFill/>
                    </a:lnR>
                    <a:lnT>
                      <a:noFill/>
                    </a:lnT>
                    <a:lnB>
                      <a:noFill/>
                    </a:lnB>
                    <a:noFill/>
                  </a:tcPr>
                </a:tc>
                <a:extLst>
                  <a:ext uri="{0D108BD9-81ED-4DB2-BD59-A6C34878D82A}">
                    <a16:rowId xmlns:a16="http://schemas.microsoft.com/office/drawing/2014/main" val="416118299"/>
                  </a:ext>
                </a:extLst>
              </a:tr>
              <a:tr h="365760">
                <a:tc>
                  <a:txBody>
                    <a:bodyPr/>
                    <a:lstStyle/>
                    <a:p>
                      <a:pPr>
                        <a:buNone/>
                      </a:pPr>
                      <a:r>
                        <a:rPr lang="en-IN" sz="2000" b="0" dirty="0"/>
                        <a:t>OpenCV (cv2)</a:t>
                      </a:r>
                    </a:p>
                  </a:txBody>
                  <a:tcPr anchor="ctr">
                    <a:lnL>
                      <a:noFill/>
                    </a:lnL>
                    <a:lnR>
                      <a:noFill/>
                    </a:lnR>
                    <a:lnT>
                      <a:noFill/>
                    </a:lnT>
                    <a:lnB>
                      <a:noFill/>
                    </a:lnB>
                    <a:noFill/>
                  </a:tcPr>
                </a:tc>
                <a:tc>
                  <a:txBody>
                    <a:bodyPr/>
                    <a:lstStyle/>
                    <a:p>
                      <a:pPr>
                        <a:buNone/>
                      </a:pPr>
                      <a:r>
                        <a:rPr lang="en-US" sz="2000" b="0"/>
                        <a:t>Video frame generation and visualization</a:t>
                      </a:r>
                    </a:p>
                  </a:txBody>
                  <a:tcPr anchor="ctr">
                    <a:lnL>
                      <a:noFill/>
                    </a:lnL>
                    <a:lnR>
                      <a:noFill/>
                    </a:lnR>
                    <a:lnT>
                      <a:noFill/>
                    </a:lnT>
                    <a:lnB>
                      <a:noFill/>
                    </a:lnB>
                    <a:noFill/>
                  </a:tcPr>
                </a:tc>
                <a:extLst>
                  <a:ext uri="{0D108BD9-81ED-4DB2-BD59-A6C34878D82A}">
                    <a16:rowId xmlns:a16="http://schemas.microsoft.com/office/drawing/2014/main" val="751086635"/>
                  </a:ext>
                </a:extLst>
              </a:tr>
              <a:tr h="365760">
                <a:tc>
                  <a:txBody>
                    <a:bodyPr/>
                    <a:lstStyle/>
                    <a:p>
                      <a:pPr>
                        <a:buNone/>
                      </a:pPr>
                      <a:r>
                        <a:rPr lang="en-IN" sz="2000" b="0"/>
                        <a:t>NumPy</a:t>
                      </a:r>
                    </a:p>
                  </a:txBody>
                  <a:tcPr anchor="ctr">
                    <a:lnL>
                      <a:noFill/>
                    </a:lnL>
                    <a:lnR>
                      <a:noFill/>
                    </a:lnR>
                    <a:lnT>
                      <a:noFill/>
                    </a:lnT>
                    <a:lnB>
                      <a:noFill/>
                    </a:lnB>
                    <a:noFill/>
                  </a:tcPr>
                </a:tc>
                <a:tc>
                  <a:txBody>
                    <a:bodyPr/>
                    <a:lstStyle/>
                    <a:p>
                      <a:pPr>
                        <a:buNone/>
                      </a:pPr>
                      <a:r>
                        <a:rPr lang="en-US" sz="2000" b="0" dirty="0"/>
                        <a:t>Frame creation and array operations</a:t>
                      </a:r>
                    </a:p>
                  </a:txBody>
                  <a:tcPr anchor="ctr">
                    <a:lnL>
                      <a:noFill/>
                    </a:lnL>
                    <a:lnR>
                      <a:noFill/>
                    </a:lnR>
                    <a:lnT>
                      <a:noFill/>
                    </a:lnT>
                    <a:lnB>
                      <a:noFill/>
                    </a:lnB>
                    <a:noFill/>
                  </a:tcPr>
                </a:tc>
                <a:extLst>
                  <a:ext uri="{0D108BD9-81ED-4DB2-BD59-A6C34878D82A}">
                    <a16:rowId xmlns:a16="http://schemas.microsoft.com/office/drawing/2014/main" val="2525396059"/>
                  </a:ext>
                </a:extLst>
              </a:tr>
              <a:tr h="365760">
                <a:tc>
                  <a:txBody>
                    <a:bodyPr/>
                    <a:lstStyle/>
                    <a:p>
                      <a:pPr>
                        <a:buNone/>
                      </a:pPr>
                      <a:r>
                        <a:rPr lang="en-IN" sz="2000" b="0"/>
                        <a:t>CSV</a:t>
                      </a:r>
                    </a:p>
                  </a:txBody>
                  <a:tcPr anchor="ctr">
                    <a:lnL>
                      <a:noFill/>
                    </a:lnL>
                    <a:lnR>
                      <a:noFill/>
                    </a:lnR>
                    <a:lnT>
                      <a:noFill/>
                    </a:lnT>
                    <a:lnB>
                      <a:noFill/>
                    </a:lnB>
                    <a:noFill/>
                  </a:tcPr>
                </a:tc>
                <a:tc>
                  <a:txBody>
                    <a:bodyPr/>
                    <a:lstStyle/>
                    <a:p>
                      <a:pPr>
                        <a:buNone/>
                      </a:pPr>
                      <a:r>
                        <a:rPr lang="en-US" sz="2000" b="0"/>
                        <a:t>Data storage for crowd activity</a:t>
                      </a:r>
                    </a:p>
                  </a:txBody>
                  <a:tcPr anchor="ctr">
                    <a:lnL>
                      <a:noFill/>
                    </a:lnL>
                    <a:lnR>
                      <a:noFill/>
                    </a:lnR>
                    <a:lnT>
                      <a:noFill/>
                    </a:lnT>
                    <a:lnB>
                      <a:noFill/>
                    </a:lnB>
                    <a:noFill/>
                  </a:tcPr>
                </a:tc>
                <a:extLst>
                  <a:ext uri="{0D108BD9-81ED-4DB2-BD59-A6C34878D82A}">
                    <a16:rowId xmlns:a16="http://schemas.microsoft.com/office/drawing/2014/main" val="1862135821"/>
                  </a:ext>
                </a:extLst>
              </a:tr>
              <a:tr h="365760">
                <a:tc>
                  <a:txBody>
                    <a:bodyPr/>
                    <a:lstStyle/>
                    <a:p>
                      <a:pPr>
                        <a:buNone/>
                      </a:pPr>
                      <a:r>
                        <a:rPr lang="en-IN" sz="2000" b="0"/>
                        <a:t>Pandas</a:t>
                      </a:r>
                    </a:p>
                  </a:txBody>
                  <a:tcPr anchor="ctr">
                    <a:lnL>
                      <a:noFill/>
                    </a:lnL>
                    <a:lnR>
                      <a:noFill/>
                    </a:lnR>
                    <a:lnT>
                      <a:noFill/>
                    </a:lnT>
                    <a:lnB>
                      <a:noFill/>
                    </a:lnB>
                    <a:noFill/>
                  </a:tcPr>
                </a:tc>
                <a:tc>
                  <a:txBody>
                    <a:bodyPr/>
                    <a:lstStyle/>
                    <a:p>
                      <a:pPr>
                        <a:buNone/>
                      </a:pPr>
                      <a:r>
                        <a:rPr lang="en-US" sz="2000" b="0"/>
                        <a:t>Data analysis and report generation</a:t>
                      </a:r>
                    </a:p>
                  </a:txBody>
                  <a:tcPr anchor="ctr">
                    <a:lnL>
                      <a:noFill/>
                    </a:lnL>
                    <a:lnR>
                      <a:noFill/>
                    </a:lnR>
                    <a:lnT>
                      <a:noFill/>
                    </a:lnT>
                    <a:lnB>
                      <a:noFill/>
                    </a:lnB>
                    <a:noFill/>
                  </a:tcPr>
                </a:tc>
                <a:extLst>
                  <a:ext uri="{0D108BD9-81ED-4DB2-BD59-A6C34878D82A}">
                    <a16:rowId xmlns:a16="http://schemas.microsoft.com/office/drawing/2014/main" val="1812862724"/>
                  </a:ext>
                </a:extLst>
              </a:tr>
              <a:tr h="365760">
                <a:tc>
                  <a:txBody>
                    <a:bodyPr/>
                    <a:lstStyle/>
                    <a:p>
                      <a:pPr>
                        <a:buNone/>
                      </a:pPr>
                      <a:r>
                        <a:rPr lang="en-IN" sz="2000" b="0"/>
                        <a:t>Matplotlib</a:t>
                      </a:r>
                    </a:p>
                  </a:txBody>
                  <a:tcPr anchor="ctr">
                    <a:lnL>
                      <a:noFill/>
                    </a:lnL>
                    <a:lnR>
                      <a:noFill/>
                    </a:lnR>
                    <a:lnT>
                      <a:noFill/>
                    </a:lnT>
                    <a:lnB>
                      <a:noFill/>
                    </a:lnB>
                    <a:noFill/>
                  </a:tcPr>
                </a:tc>
                <a:tc>
                  <a:txBody>
                    <a:bodyPr/>
                    <a:lstStyle/>
                    <a:p>
                      <a:pPr>
                        <a:buNone/>
                      </a:pPr>
                      <a:r>
                        <a:rPr lang="en-IN" sz="2000" b="0"/>
                        <a:t>Graph generation</a:t>
                      </a:r>
                    </a:p>
                  </a:txBody>
                  <a:tcPr anchor="ctr">
                    <a:lnL>
                      <a:noFill/>
                    </a:lnL>
                    <a:lnR>
                      <a:noFill/>
                    </a:lnR>
                    <a:lnT>
                      <a:noFill/>
                    </a:lnT>
                    <a:lnB>
                      <a:noFill/>
                    </a:lnB>
                    <a:noFill/>
                  </a:tcPr>
                </a:tc>
                <a:extLst>
                  <a:ext uri="{0D108BD9-81ED-4DB2-BD59-A6C34878D82A}">
                    <a16:rowId xmlns:a16="http://schemas.microsoft.com/office/drawing/2014/main" val="1269260089"/>
                  </a:ext>
                </a:extLst>
              </a:tr>
              <a:tr h="365760">
                <a:tc>
                  <a:txBody>
                    <a:bodyPr/>
                    <a:lstStyle/>
                    <a:p>
                      <a:pPr>
                        <a:buNone/>
                      </a:pPr>
                      <a:r>
                        <a:rPr lang="en-IN" sz="2000" b="0"/>
                        <a:t>Logging Module</a:t>
                      </a:r>
                    </a:p>
                  </a:txBody>
                  <a:tcPr anchor="ctr">
                    <a:lnL>
                      <a:noFill/>
                    </a:lnL>
                    <a:lnR>
                      <a:noFill/>
                    </a:lnR>
                    <a:lnT>
                      <a:noFill/>
                    </a:lnT>
                    <a:lnB>
                      <a:noFill/>
                    </a:lnB>
                    <a:noFill/>
                  </a:tcPr>
                </a:tc>
                <a:tc>
                  <a:txBody>
                    <a:bodyPr/>
                    <a:lstStyle/>
                    <a:p>
                      <a:pPr>
                        <a:buNone/>
                      </a:pPr>
                      <a:r>
                        <a:rPr lang="en-IN" sz="2000" b="0"/>
                        <a:t>System event tracking</a:t>
                      </a:r>
                    </a:p>
                  </a:txBody>
                  <a:tcPr anchor="ctr">
                    <a:lnL>
                      <a:noFill/>
                    </a:lnL>
                    <a:lnR>
                      <a:noFill/>
                    </a:lnR>
                    <a:lnT>
                      <a:noFill/>
                    </a:lnT>
                    <a:lnB>
                      <a:noFill/>
                    </a:lnB>
                    <a:noFill/>
                  </a:tcPr>
                </a:tc>
                <a:extLst>
                  <a:ext uri="{0D108BD9-81ED-4DB2-BD59-A6C34878D82A}">
                    <a16:rowId xmlns:a16="http://schemas.microsoft.com/office/drawing/2014/main" val="47640456"/>
                  </a:ext>
                </a:extLst>
              </a:tr>
              <a:tr h="365760">
                <a:tc>
                  <a:txBody>
                    <a:bodyPr/>
                    <a:lstStyle/>
                    <a:p>
                      <a:pPr>
                        <a:buNone/>
                      </a:pPr>
                      <a:r>
                        <a:rPr lang="en-IN" sz="2000" b="0"/>
                        <a:t>Datetime</a:t>
                      </a:r>
                    </a:p>
                  </a:txBody>
                  <a:tcPr anchor="ctr">
                    <a:lnL>
                      <a:noFill/>
                    </a:lnL>
                    <a:lnR>
                      <a:noFill/>
                    </a:lnR>
                    <a:lnT>
                      <a:noFill/>
                    </a:lnT>
                    <a:lnB>
                      <a:noFill/>
                    </a:lnB>
                    <a:noFill/>
                  </a:tcPr>
                </a:tc>
                <a:tc>
                  <a:txBody>
                    <a:bodyPr/>
                    <a:lstStyle/>
                    <a:p>
                      <a:pPr>
                        <a:buNone/>
                      </a:pPr>
                      <a:r>
                        <a:rPr lang="en-IN" sz="2000" b="0"/>
                        <a:t>Timestamp generation</a:t>
                      </a:r>
                    </a:p>
                  </a:txBody>
                  <a:tcPr anchor="ctr">
                    <a:lnL>
                      <a:noFill/>
                    </a:lnL>
                    <a:lnR>
                      <a:noFill/>
                    </a:lnR>
                    <a:lnT>
                      <a:noFill/>
                    </a:lnT>
                    <a:lnB>
                      <a:noFill/>
                    </a:lnB>
                    <a:noFill/>
                  </a:tcPr>
                </a:tc>
                <a:extLst>
                  <a:ext uri="{0D108BD9-81ED-4DB2-BD59-A6C34878D82A}">
                    <a16:rowId xmlns:a16="http://schemas.microsoft.com/office/drawing/2014/main" val="2371236177"/>
                  </a:ext>
                </a:extLst>
              </a:tr>
              <a:tr h="365760">
                <a:tc>
                  <a:txBody>
                    <a:bodyPr/>
                    <a:lstStyle/>
                    <a:p>
                      <a:pPr>
                        <a:buNone/>
                      </a:pPr>
                      <a:r>
                        <a:rPr lang="en-IN" sz="2000" b="0"/>
                        <a:t>Random Module</a:t>
                      </a:r>
                    </a:p>
                  </a:txBody>
                  <a:tcPr anchor="ctr">
                    <a:lnL>
                      <a:noFill/>
                    </a:lnL>
                    <a:lnR>
                      <a:noFill/>
                    </a:lnR>
                    <a:lnT>
                      <a:noFill/>
                    </a:lnT>
                    <a:lnB>
                      <a:noFill/>
                    </a:lnB>
                    <a:noFill/>
                  </a:tcPr>
                </a:tc>
                <a:tc>
                  <a:txBody>
                    <a:bodyPr/>
                    <a:lstStyle/>
                    <a:p>
                      <a:pPr>
                        <a:buNone/>
                      </a:pPr>
                      <a:r>
                        <a:rPr lang="en-IN" sz="2000" b="0" dirty="0"/>
                        <a:t>Simulated people movement</a:t>
                      </a:r>
                    </a:p>
                  </a:txBody>
                  <a:tcPr anchor="ctr">
                    <a:lnL>
                      <a:noFill/>
                    </a:lnL>
                    <a:lnR>
                      <a:noFill/>
                    </a:lnR>
                    <a:lnT>
                      <a:noFill/>
                    </a:lnT>
                    <a:lnB>
                      <a:noFill/>
                    </a:lnB>
                    <a:noFill/>
                  </a:tcPr>
                </a:tc>
                <a:extLst>
                  <a:ext uri="{0D108BD9-81ED-4DB2-BD59-A6C34878D82A}">
                    <a16:rowId xmlns:a16="http://schemas.microsoft.com/office/drawing/2014/main" val="231751298"/>
                  </a:ext>
                </a:extLst>
              </a:tr>
            </a:tbl>
          </a:graphicData>
        </a:graphic>
      </p:graphicFrame>
    </p:spTree>
    <p:extLst>
      <p:ext uri="{BB962C8B-B14F-4D97-AF65-F5344CB8AC3E}">
        <p14:creationId xmlns:p14="http://schemas.microsoft.com/office/powerpoint/2010/main" val="20270466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B0AD5-C45B-4ABB-7F60-751AAB018E0F}"/>
              </a:ext>
            </a:extLst>
          </p:cNvPr>
          <p:cNvSpPr>
            <a:spLocks noGrp="1"/>
          </p:cNvSpPr>
          <p:nvPr>
            <p:ph type="title"/>
          </p:nvPr>
        </p:nvSpPr>
        <p:spPr/>
        <p:txBody>
          <a:bodyPr/>
          <a:lstStyle/>
          <a:p>
            <a:pPr algn="l"/>
            <a:r>
              <a:rPr lang="en-IN" dirty="0"/>
              <a:t>Output screenshots:</a:t>
            </a:r>
          </a:p>
        </p:txBody>
      </p:sp>
      <p:sp>
        <p:nvSpPr>
          <p:cNvPr id="3" name="Content Placeholder 2">
            <a:extLst>
              <a:ext uri="{FF2B5EF4-FFF2-40B4-BE49-F238E27FC236}">
                <a16:creationId xmlns:a16="http://schemas.microsoft.com/office/drawing/2014/main" id="{6117D527-0E71-1B7B-2EC2-3465D3FB958F}"/>
              </a:ext>
            </a:extLst>
          </p:cNvPr>
          <p:cNvSpPr>
            <a:spLocks noGrp="1"/>
          </p:cNvSpPr>
          <p:nvPr>
            <p:ph idx="1"/>
          </p:nvPr>
        </p:nvSpPr>
        <p:spPr>
          <a:xfrm>
            <a:off x="913794" y="1781432"/>
            <a:ext cx="10353762" cy="4466968"/>
          </a:xfrm>
        </p:spPr>
        <p:txBody>
          <a:bodyPr/>
          <a:lstStyle/>
          <a:p>
            <a:pPr marL="0" indent="0">
              <a:buNone/>
            </a:pPr>
            <a:r>
              <a:rPr lang="en-IN" dirty="0"/>
              <a:t>System_log.txt file:</a:t>
            </a:r>
          </a:p>
          <a:p>
            <a:pPr marL="0" indent="0">
              <a:buNone/>
            </a:pPr>
            <a:endParaRPr lang="en-IN" dirty="0"/>
          </a:p>
        </p:txBody>
      </p:sp>
      <p:pic>
        <p:nvPicPr>
          <p:cNvPr id="5" name="Picture 4">
            <a:extLst>
              <a:ext uri="{FF2B5EF4-FFF2-40B4-BE49-F238E27FC236}">
                <a16:creationId xmlns:a16="http://schemas.microsoft.com/office/drawing/2014/main" id="{90710FF7-C39E-CE04-53EA-36181D0D9AB6}"/>
              </a:ext>
            </a:extLst>
          </p:cNvPr>
          <p:cNvPicPr>
            <a:picLocks noChangeAspect="1"/>
          </p:cNvPicPr>
          <p:nvPr/>
        </p:nvPicPr>
        <p:blipFill>
          <a:blip r:embed="rId2"/>
          <a:stretch>
            <a:fillRect/>
          </a:stretch>
        </p:blipFill>
        <p:spPr>
          <a:xfrm>
            <a:off x="3805085" y="1865670"/>
            <a:ext cx="5112774" cy="4382730"/>
          </a:xfrm>
          <a:prstGeom prst="rect">
            <a:avLst/>
          </a:prstGeom>
        </p:spPr>
      </p:pic>
    </p:spTree>
    <p:extLst>
      <p:ext uri="{BB962C8B-B14F-4D97-AF65-F5344CB8AC3E}">
        <p14:creationId xmlns:p14="http://schemas.microsoft.com/office/powerpoint/2010/main" val="37793547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9B5D8-D962-500C-E15B-C5B0CDDA3F8A}"/>
              </a:ext>
            </a:extLst>
          </p:cNvPr>
          <p:cNvSpPr>
            <a:spLocks noGrp="1"/>
          </p:cNvSpPr>
          <p:nvPr>
            <p:ph type="title"/>
          </p:nvPr>
        </p:nvSpPr>
        <p:spPr>
          <a:xfrm>
            <a:off x="559835" y="235974"/>
            <a:ext cx="4926566" cy="953729"/>
          </a:xfrm>
        </p:spPr>
        <p:txBody>
          <a:bodyPr>
            <a:normAutofit/>
          </a:bodyPr>
          <a:lstStyle/>
          <a:p>
            <a:pPr algn="l"/>
            <a:r>
              <a:rPr lang="en-IN" sz="1800" b="0" dirty="0"/>
              <a:t>Crowd_data.csv file:</a:t>
            </a:r>
          </a:p>
        </p:txBody>
      </p:sp>
      <p:pic>
        <p:nvPicPr>
          <p:cNvPr id="5" name="Content Placeholder 4">
            <a:extLst>
              <a:ext uri="{FF2B5EF4-FFF2-40B4-BE49-F238E27FC236}">
                <a16:creationId xmlns:a16="http://schemas.microsoft.com/office/drawing/2014/main" id="{A08610E0-6E18-041F-F56B-D9D95EC39418}"/>
              </a:ext>
            </a:extLst>
          </p:cNvPr>
          <p:cNvPicPr>
            <a:picLocks noGrp="1" noChangeAspect="1"/>
          </p:cNvPicPr>
          <p:nvPr>
            <p:ph idx="1"/>
          </p:nvPr>
        </p:nvPicPr>
        <p:blipFill>
          <a:blip r:embed="rId2"/>
          <a:stretch>
            <a:fillRect/>
          </a:stretch>
        </p:blipFill>
        <p:spPr>
          <a:xfrm>
            <a:off x="3165987" y="1086464"/>
            <a:ext cx="4778478" cy="5381340"/>
          </a:xfrm>
          <a:prstGeom prst="rect">
            <a:avLst/>
          </a:prstGeom>
        </p:spPr>
      </p:pic>
    </p:spTree>
    <p:extLst>
      <p:ext uri="{BB962C8B-B14F-4D97-AF65-F5344CB8AC3E}">
        <p14:creationId xmlns:p14="http://schemas.microsoft.com/office/powerpoint/2010/main" val="42024807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78AB1-0F12-56D3-2FD6-4DF2DBC02187}"/>
              </a:ext>
            </a:extLst>
          </p:cNvPr>
          <p:cNvSpPr>
            <a:spLocks noGrp="1"/>
          </p:cNvSpPr>
          <p:nvPr>
            <p:ph type="title"/>
          </p:nvPr>
        </p:nvSpPr>
        <p:spPr>
          <a:xfrm>
            <a:off x="343524" y="255639"/>
            <a:ext cx="10353761" cy="963561"/>
          </a:xfrm>
        </p:spPr>
        <p:txBody>
          <a:bodyPr>
            <a:normAutofit/>
          </a:bodyPr>
          <a:lstStyle/>
          <a:p>
            <a:pPr algn="l"/>
            <a:r>
              <a:rPr lang="en-IN" sz="2000" b="0" dirty="0"/>
              <a:t>Alert Screenshot:</a:t>
            </a:r>
          </a:p>
        </p:txBody>
      </p:sp>
      <p:pic>
        <p:nvPicPr>
          <p:cNvPr id="5" name="Content Placeholder 4">
            <a:extLst>
              <a:ext uri="{FF2B5EF4-FFF2-40B4-BE49-F238E27FC236}">
                <a16:creationId xmlns:a16="http://schemas.microsoft.com/office/drawing/2014/main" id="{466F42EF-2CC3-EB1C-749D-8FEC131BD966}"/>
              </a:ext>
            </a:extLst>
          </p:cNvPr>
          <p:cNvPicPr>
            <a:picLocks noGrp="1" noChangeAspect="1"/>
          </p:cNvPicPr>
          <p:nvPr>
            <p:ph idx="1"/>
          </p:nvPr>
        </p:nvPicPr>
        <p:blipFill>
          <a:blip r:embed="rId2"/>
          <a:stretch>
            <a:fillRect/>
          </a:stretch>
        </p:blipFill>
        <p:spPr>
          <a:xfrm>
            <a:off x="534488" y="1095763"/>
            <a:ext cx="7724607" cy="4488303"/>
          </a:xfrm>
          <a:prstGeom prst="rect">
            <a:avLst/>
          </a:prstGeom>
        </p:spPr>
      </p:pic>
      <p:pic>
        <p:nvPicPr>
          <p:cNvPr id="7" name="Picture 6">
            <a:extLst>
              <a:ext uri="{FF2B5EF4-FFF2-40B4-BE49-F238E27FC236}">
                <a16:creationId xmlns:a16="http://schemas.microsoft.com/office/drawing/2014/main" id="{3D7F6DF3-1CFE-1A1D-640B-C20F7D35AF6A}"/>
              </a:ext>
            </a:extLst>
          </p:cNvPr>
          <p:cNvPicPr>
            <a:picLocks noChangeAspect="1"/>
          </p:cNvPicPr>
          <p:nvPr/>
        </p:nvPicPr>
        <p:blipFill>
          <a:blip r:embed="rId3"/>
          <a:stretch>
            <a:fillRect/>
          </a:stretch>
        </p:blipFill>
        <p:spPr>
          <a:xfrm>
            <a:off x="8639664" y="1624269"/>
            <a:ext cx="2765755" cy="2967395"/>
          </a:xfrm>
          <a:prstGeom prst="rect">
            <a:avLst/>
          </a:prstGeom>
        </p:spPr>
      </p:pic>
    </p:spTree>
    <p:extLst>
      <p:ext uri="{BB962C8B-B14F-4D97-AF65-F5344CB8AC3E}">
        <p14:creationId xmlns:p14="http://schemas.microsoft.com/office/powerpoint/2010/main" val="18583292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FD0ED-60D0-2E8C-A9A7-5DBC4B7910FE}"/>
              </a:ext>
            </a:extLst>
          </p:cNvPr>
          <p:cNvSpPr>
            <a:spLocks noGrp="1"/>
          </p:cNvSpPr>
          <p:nvPr>
            <p:ph type="title"/>
          </p:nvPr>
        </p:nvSpPr>
        <p:spPr>
          <a:xfrm>
            <a:off x="687653" y="265471"/>
            <a:ext cx="10353761" cy="801329"/>
          </a:xfrm>
        </p:spPr>
        <p:txBody>
          <a:bodyPr>
            <a:normAutofit/>
          </a:bodyPr>
          <a:lstStyle/>
          <a:p>
            <a:pPr algn="l"/>
            <a:r>
              <a:rPr lang="en-IN" sz="1800" b="0" dirty="0"/>
              <a:t>Graph </a:t>
            </a:r>
            <a:r>
              <a:rPr lang="en-IN" sz="1800" b="0" dirty="0" err="1"/>
              <a:t>Represemtation</a:t>
            </a:r>
            <a:r>
              <a:rPr lang="en-IN" sz="1800" b="0" dirty="0"/>
              <a:t>:</a:t>
            </a:r>
          </a:p>
        </p:txBody>
      </p:sp>
      <p:pic>
        <p:nvPicPr>
          <p:cNvPr id="5" name="Content Placeholder 4">
            <a:extLst>
              <a:ext uri="{FF2B5EF4-FFF2-40B4-BE49-F238E27FC236}">
                <a16:creationId xmlns:a16="http://schemas.microsoft.com/office/drawing/2014/main" id="{BE153919-77CF-C2CF-EA9C-5DE116DF2E99}"/>
              </a:ext>
            </a:extLst>
          </p:cNvPr>
          <p:cNvPicPr>
            <a:picLocks noGrp="1" noChangeAspect="1"/>
          </p:cNvPicPr>
          <p:nvPr>
            <p:ph idx="1"/>
          </p:nvPr>
        </p:nvPicPr>
        <p:blipFill>
          <a:blip r:embed="rId2"/>
          <a:stretch>
            <a:fillRect/>
          </a:stretch>
        </p:blipFill>
        <p:spPr>
          <a:xfrm>
            <a:off x="1482055" y="1123335"/>
            <a:ext cx="8281839" cy="4611329"/>
          </a:xfrm>
          <a:prstGeom prst="rect">
            <a:avLst/>
          </a:prstGeom>
        </p:spPr>
      </p:pic>
    </p:spTree>
    <p:extLst>
      <p:ext uri="{BB962C8B-B14F-4D97-AF65-F5344CB8AC3E}">
        <p14:creationId xmlns:p14="http://schemas.microsoft.com/office/powerpoint/2010/main" val="184460115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C1A80-304C-89AF-46CE-59A7CB2338AB}"/>
              </a:ext>
            </a:extLst>
          </p:cNvPr>
          <p:cNvSpPr>
            <a:spLocks noGrp="1"/>
          </p:cNvSpPr>
          <p:nvPr>
            <p:ph type="title"/>
          </p:nvPr>
        </p:nvSpPr>
        <p:spPr>
          <a:xfrm>
            <a:off x="697487" y="147484"/>
            <a:ext cx="3137094" cy="1326321"/>
          </a:xfrm>
        </p:spPr>
        <p:txBody>
          <a:bodyPr/>
          <a:lstStyle/>
          <a:p>
            <a:r>
              <a:rPr lang="en-IN" dirty="0"/>
              <a:t>Dashboard</a:t>
            </a:r>
          </a:p>
        </p:txBody>
      </p:sp>
      <p:pic>
        <p:nvPicPr>
          <p:cNvPr id="5" name="Content Placeholder 4">
            <a:extLst>
              <a:ext uri="{FF2B5EF4-FFF2-40B4-BE49-F238E27FC236}">
                <a16:creationId xmlns:a16="http://schemas.microsoft.com/office/drawing/2014/main" id="{5BE759DE-3AD8-6F78-CEB4-7C72C032CF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7355" y="1612489"/>
            <a:ext cx="9006348" cy="4463845"/>
          </a:xfrm>
          <a:prstGeom prst="rect">
            <a:avLst/>
          </a:prstGeom>
        </p:spPr>
      </p:pic>
    </p:spTree>
    <p:extLst>
      <p:ext uri="{BB962C8B-B14F-4D97-AF65-F5344CB8AC3E}">
        <p14:creationId xmlns:p14="http://schemas.microsoft.com/office/powerpoint/2010/main" val="30494228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89F063D-86C3-6FC9-F2E0-3C95FF4161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7794" y="1366684"/>
            <a:ext cx="8239431" cy="4572000"/>
          </a:xfrm>
          <a:prstGeom prst="rect">
            <a:avLst/>
          </a:prstGeom>
        </p:spPr>
      </p:pic>
    </p:spTree>
    <p:extLst>
      <p:ext uri="{BB962C8B-B14F-4D97-AF65-F5344CB8AC3E}">
        <p14:creationId xmlns:p14="http://schemas.microsoft.com/office/powerpoint/2010/main" val="11609132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IMPLEMENTATIONS</a:t>
            </a:r>
            <a:endParaRPr lang="en-US" dirty="0"/>
          </a:p>
        </p:txBody>
      </p:sp>
      <p:sp>
        <p:nvSpPr>
          <p:cNvPr id="3" name="Content Placeholder 2"/>
          <p:cNvSpPr>
            <a:spLocks noGrp="1"/>
          </p:cNvSpPr>
          <p:nvPr>
            <p:ph idx="1"/>
          </p:nvPr>
        </p:nvSpPr>
        <p:spPr>
          <a:xfrm>
            <a:off x="913795" y="2096063"/>
            <a:ext cx="10353762" cy="4073827"/>
          </a:xfrm>
        </p:spPr>
        <p:txBody>
          <a:bodyPr>
            <a:normAutofit fontScale="85000" lnSpcReduction="10000"/>
          </a:bodyPr>
          <a:lstStyle/>
          <a:p>
            <a:r>
              <a:rPr lang="en-US" b="1" dirty="0"/>
              <a:t>Advanced Tracking Algorithms</a:t>
            </a:r>
          </a:p>
          <a:p>
            <a:pPr lvl="1"/>
            <a:r>
              <a:rPr lang="en-US" dirty="0"/>
              <a:t>Use </a:t>
            </a:r>
            <a:r>
              <a:rPr lang="en-US" dirty="0" err="1"/>
              <a:t>DeepSORT</a:t>
            </a:r>
            <a:r>
              <a:rPr lang="en-US" dirty="0"/>
              <a:t> or </a:t>
            </a:r>
            <a:r>
              <a:rPr lang="en-US" dirty="0" err="1"/>
              <a:t>BoT</a:t>
            </a:r>
            <a:r>
              <a:rPr lang="en-US" dirty="0"/>
              <a:t>-SORT for improved tracking accuracy </a:t>
            </a:r>
          </a:p>
          <a:p>
            <a:pPr lvl="1"/>
            <a:r>
              <a:rPr lang="en-US" dirty="0"/>
              <a:t>Combines motion + appearance features </a:t>
            </a:r>
          </a:p>
          <a:p>
            <a:pPr lvl="1"/>
            <a:r>
              <a:rPr lang="en-US" dirty="0"/>
              <a:t>Reduces ID switching in dense crowds </a:t>
            </a:r>
          </a:p>
          <a:p>
            <a:r>
              <a:rPr lang="en-US" b="1" dirty="0"/>
              <a:t>Multi-Camera Integration</a:t>
            </a:r>
          </a:p>
          <a:p>
            <a:pPr lvl="1"/>
            <a:r>
              <a:rPr lang="en-US" dirty="0"/>
              <a:t>Supports monitoring from multiple cameras </a:t>
            </a:r>
          </a:p>
          <a:p>
            <a:pPr lvl="1"/>
            <a:r>
              <a:rPr lang="en-US" dirty="0"/>
              <a:t>Covers large areas like malls, airports, events </a:t>
            </a:r>
          </a:p>
          <a:p>
            <a:pPr lvl="1"/>
            <a:r>
              <a:rPr lang="en-US" dirty="0"/>
              <a:t>Reduces blind spots and improves coverage </a:t>
            </a:r>
          </a:p>
          <a:p>
            <a:r>
              <a:rPr lang="en-US" b="1" dirty="0"/>
              <a:t>Cloud-Based Monitoring</a:t>
            </a:r>
          </a:p>
          <a:p>
            <a:pPr lvl="1"/>
            <a:r>
              <a:rPr lang="en-US" dirty="0"/>
              <a:t>Enables remote access to crowd data </a:t>
            </a:r>
          </a:p>
          <a:p>
            <a:pPr lvl="1"/>
            <a:r>
              <a:rPr lang="en-US" dirty="0"/>
              <a:t>Supports real-time monitoring from anywhere </a:t>
            </a:r>
          </a:p>
          <a:p>
            <a:pPr lvl="1"/>
            <a:r>
              <a:rPr lang="en-US" dirty="0"/>
              <a:t>Provides centralized control and analytics</a:t>
            </a:r>
          </a:p>
        </p:txBody>
      </p:sp>
    </p:spTree>
    <p:extLst>
      <p:ext uri="{BB962C8B-B14F-4D97-AF65-F5344CB8AC3E}">
        <p14:creationId xmlns:p14="http://schemas.microsoft.com/office/powerpoint/2010/main" val="22816136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1690255"/>
            <a:ext cx="10353762" cy="4100945"/>
          </a:xfrm>
        </p:spPr>
        <p:txBody>
          <a:bodyPr>
            <a:normAutofit fontScale="85000" lnSpcReduction="10000"/>
          </a:bodyPr>
          <a:lstStyle/>
          <a:p>
            <a:r>
              <a:rPr lang="en-US" b="1" dirty="0"/>
              <a:t>Low-Light Detection Enhancement</a:t>
            </a:r>
          </a:p>
          <a:p>
            <a:pPr lvl="1"/>
            <a:r>
              <a:rPr lang="en-US" dirty="0"/>
              <a:t>Improves detection in poor lighting conditions </a:t>
            </a:r>
          </a:p>
          <a:p>
            <a:pPr lvl="1"/>
            <a:r>
              <a:rPr lang="en-US" dirty="0"/>
              <a:t>Uses advanced deep learning models </a:t>
            </a:r>
          </a:p>
          <a:p>
            <a:pPr lvl="1"/>
            <a:r>
              <a:rPr lang="en-US" dirty="0"/>
              <a:t>Ensures consistent performance day and night </a:t>
            </a:r>
          </a:p>
          <a:p>
            <a:r>
              <a:rPr lang="en-US" b="1" dirty="0"/>
              <a:t>Behavior &amp; Anomaly Detection</a:t>
            </a:r>
          </a:p>
          <a:p>
            <a:pPr lvl="1"/>
            <a:r>
              <a:rPr lang="en-US" dirty="0"/>
              <a:t>Detects unusual crowd activities </a:t>
            </a:r>
          </a:p>
          <a:p>
            <a:pPr lvl="1"/>
            <a:r>
              <a:rPr lang="en-US" dirty="0"/>
              <a:t>Identifies sudden gatherings or panic movement </a:t>
            </a:r>
          </a:p>
          <a:p>
            <a:pPr lvl="1"/>
            <a:r>
              <a:rPr lang="en-US" dirty="0"/>
              <a:t>Provides early warnings (not just reactive alerts) </a:t>
            </a:r>
          </a:p>
          <a:p>
            <a:r>
              <a:rPr lang="en-US" b="1" dirty="0" err="1"/>
              <a:t>IoT</a:t>
            </a:r>
            <a:r>
              <a:rPr lang="en-US" b="1" dirty="0"/>
              <a:t> &amp; Smart City Integration</a:t>
            </a:r>
          </a:p>
          <a:p>
            <a:pPr lvl="1"/>
            <a:r>
              <a:rPr lang="en-US" dirty="0"/>
              <a:t>Connects with smart city infrastructure </a:t>
            </a:r>
          </a:p>
          <a:p>
            <a:pPr lvl="1"/>
            <a:r>
              <a:rPr lang="en-US" dirty="0"/>
              <a:t>Triggers automatic alerts and responses </a:t>
            </a:r>
          </a:p>
          <a:p>
            <a:pPr lvl="1"/>
            <a:r>
              <a:rPr lang="en-US" dirty="0"/>
              <a:t>Enhances scalability and real-world deployment</a:t>
            </a:r>
          </a:p>
          <a:p>
            <a:endParaRPr lang="en-US" dirty="0"/>
          </a:p>
        </p:txBody>
      </p:sp>
    </p:spTree>
    <p:extLst>
      <p:ext uri="{BB962C8B-B14F-4D97-AF65-F5344CB8AC3E}">
        <p14:creationId xmlns:p14="http://schemas.microsoft.com/office/powerpoint/2010/main" val="36507127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pPr marL="0" indent="0" algn="ctr">
              <a:buNone/>
            </a:pPr>
            <a:r>
              <a:rPr lang="en-US" b="1" dirty="0"/>
              <a:t>The </a:t>
            </a:r>
            <a:r>
              <a:rPr lang="en-US" b="1" dirty="0" err="1"/>
              <a:t>CrowdCount</a:t>
            </a:r>
            <a:r>
              <a:rPr lang="en-US" b="1" dirty="0"/>
              <a:t> system demonstrates the effective use of AI and computer vision for real-time people counting and crowd monitoring. By combining YOLOv8 detection, </a:t>
            </a:r>
            <a:r>
              <a:rPr lang="en-US" b="1" dirty="0" err="1"/>
              <a:t>ByteTrack</a:t>
            </a:r>
            <a:r>
              <a:rPr lang="en-US" b="1" dirty="0"/>
              <a:t> tracking, and zone-based logic, it provides accurate analytics, live monitoring, and automated alerts. The system is scalable and suitable for real-world applications, highlighting its potential for improving crowd management and safety.</a:t>
            </a:r>
            <a:endParaRPr lang="en-US" dirty="0"/>
          </a:p>
        </p:txBody>
      </p:sp>
    </p:spTree>
    <p:extLst>
      <p:ext uri="{BB962C8B-B14F-4D97-AF65-F5344CB8AC3E}">
        <p14:creationId xmlns:p14="http://schemas.microsoft.com/office/powerpoint/2010/main" val="18404851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8A410-2DE8-44D2-2C69-BFF78C088D3F}"/>
              </a:ext>
            </a:extLst>
          </p:cNvPr>
          <p:cNvSpPr>
            <a:spLocks noGrp="1"/>
          </p:cNvSpPr>
          <p:nvPr>
            <p:ph type="title"/>
          </p:nvPr>
        </p:nvSpPr>
        <p:spPr>
          <a:xfrm>
            <a:off x="746646" y="2635045"/>
            <a:ext cx="10353761" cy="1326321"/>
          </a:xfrm>
        </p:spPr>
        <p:txBody>
          <a:bodyPr>
            <a:normAutofit/>
          </a:bodyPr>
          <a:lstStyle/>
          <a:p>
            <a:r>
              <a:rPr lang="en-IN" sz="4800" dirty="0"/>
              <a:t>THANK YOU…</a:t>
            </a:r>
          </a:p>
        </p:txBody>
      </p:sp>
    </p:spTree>
    <p:extLst>
      <p:ext uri="{BB962C8B-B14F-4D97-AF65-F5344CB8AC3E}">
        <p14:creationId xmlns:p14="http://schemas.microsoft.com/office/powerpoint/2010/main" val="6111977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120</TotalTime>
  <Words>539</Words>
  <Application>Microsoft Office PowerPoint</Application>
  <PresentationFormat>Widescreen</PresentationFormat>
  <Paragraphs>151</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Bookman Old Style</vt:lpstr>
      <vt:lpstr>Rockwell</vt:lpstr>
      <vt:lpstr>Wingdings</vt:lpstr>
      <vt:lpstr>Damask</vt:lpstr>
      <vt:lpstr>Infosys  Crowd Count People Counting Using Video Analytics </vt:lpstr>
      <vt:lpstr>MILESTONE1</vt:lpstr>
      <vt:lpstr>Problem Statement</vt:lpstr>
      <vt:lpstr>System Workflow</vt:lpstr>
      <vt:lpstr>Technologies Used</vt:lpstr>
      <vt:lpstr>Output</vt:lpstr>
      <vt:lpstr>PowerPoint Presentation</vt:lpstr>
      <vt:lpstr>Milestone-2</vt:lpstr>
      <vt:lpstr>System Workflow</vt:lpstr>
      <vt:lpstr>Technologies Used</vt:lpstr>
      <vt:lpstr>User Controls</vt:lpstr>
      <vt:lpstr> Output</vt:lpstr>
      <vt:lpstr>PowerPoint Presentation</vt:lpstr>
      <vt:lpstr>MILESTONE-3</vt:lpstr>
      <vt:lpstr>System Workflow</vt:lpstr>
      <vt:lpstr>Technologies Used</vt:lpstr>
      <vt:lpstr>Key Features</vt:lpstr>
      <vt:lpstr>Output</vt:lpstr>
      <vt:lpstr>MILESTONE-4</vt:lpstr>
      <vt:lpstr>TASKS:</vt:lpstr>
      <vt:lpstr>Overcrowding alert</vt:lpstr>
      <vt:lpstr>Technologies Used:</vt:lpstr>
      <vt:lpstr>Output screenshots:</vt:lpstr>
      <vt:lpstr>Crowd_data.csv file:</vt:lpstr>
      <vt:lpstr>Alert Screenshot:</vt:lpstr>
      <vt:lpstr>Graph Represemtation:</vt:lpstr>
      <vt:lpstr>Dashboard</vt:lpstr>
      <vt:lpstr>PowerPoint Presentation</vt:lpstr>
      <vt:lpstr>FUTURE IMPLEMENTATIONS</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Infosys  Crowd Count People Counting Using Video Analytics </dc:title>
  <dc:creator>Priyapushpam Sagunthala</dc:creator>
  <cp:lastModifiedBy>HP</cp:lastModifiedBy>
  <cp:revision>10</cp:revision>
  <dcterms:created xsi:type="dcterms:W3CDTF">2026-03-08T08:24:31Z</dcterms:created>
  <dcterms:modified xsi:type="dcterms:W3CDTF">2026-04-07T21:10:44Z</dcterms:modified>
</cp:coreProperties>
</file>